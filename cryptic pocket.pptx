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0" r:id="rId2"/>
    <p:sldId id="550" r:id="rId3"/>
    <p:sldId id="551" r:id="rId4"/>
    <p:sldId id="552" r:id="rId5"/>
    <p:sldId id="520" r:id="rId6"/>
    <p:sldId id="530" r:id="rId7"/>
    <p:sldId id="531" r:id="rId8"/>
    <p:sldId id="532" r:id="rId9"/>
    <p:sldId id="529" r:id="rId10"/>
    <p:sldId id="541" r:id="rId11"/>
    <p:sldId id="543" r:id="rId12"/>
    <p:sldId id="55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YC" initials="D" lastIdx="1" clrIdx="0">
    <p:extLst>
      <p:ext uri="{19B8F6BF-5375-455C-9EA6-DF929625EA0E}">
        <p15:presenceInfo xmlns:p15="http://schemas.microsoft.com/office/powerpoint/2012/main" userId="ZYC" providerId="None"/>
      </p:ext>
    </p:extLst>
  </p:cmAuthor>
  <p:cmAuthor id="2" name="阳阳 章" initials="阳阳" lastIdx="3" clrIdx="1">
    <p:extLst>
      <p:ext uri="{19B8F6BF-5375-455C-9EA6-DF929625EA0E}">
        <p15:presenceInfo xmlns:p15="http://schemas.microsoft.com/office/powerpoint/2012/main" userId="9187cd783b2feb7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EFF1"/>
    <a:srgbClr val="FBDECD"/>
    <a:srgbClr val="FDEEE8"/>
    <a:srgbClr val="F8F2CF"/>
    <a:srgbClr val="3853F0"/>
    <a:srgbClr val="4BEAA5"/>
    <a:srgbClr val="8894C9"/>
    <a:srgbClr val="6C7BA0"/>
    <a:srgbClr val="9DC3E6"/>
    <a:srgbClr val="8FAA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3" autoAdjust="0"/>
    <p:restoredTop sz="87483" autoAdjust="0"/>
  </p:normalViewPr>
  <p:slideViewPr>
    <p:cSldViewPr snapToGrid="0">
      <p:cViewPr varScale="1">
        <p:scale>
          <a:sx n="141" d="100"/>
          <a:sy n="141" d="100"/>
        </p:scale>
        <p:origin x="1050" y="114"/>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A02ED6-7CCF-42E1-9D58-96506D6A6457}" type="datetimeFigureOut">
              <a:rPr lang="zh-CN" altLang="en-US" smtClean="0"/>
              <a:t>2026/8/6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94DEFF-9854-460A-B238-D51559280971}" type="slidenum">
              <a:rPr lang="zh-CN" altLang="en-US" smtClean="0"/>
              <a:t>‹#›</a:t>
            </a:fld>
            <a:endParaRPr lang="zh-CN" altLang="en-US"/>
          </a:p>
        </p:txBody>
      </p:sp>
    </p:spTree>
    <p:extLst>
      <p:ext uri="{BB962C8B-B14F-4D97-AF65-F5344CB8AC3E}">
        <p14:creationId xmlns:p14="http://schemas.microsoft.com/office/powerpoint/2010/main" val="61620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442EF2-776C-4EA0-A6F0-750188DFE6B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89363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294DEFF-9854-460A-B238-D51559280971}" type="slidenum">
              <a:rPr lang="zh-CN" altLang="en-US" smtClean="0"/>
              <a:t>2</a:t>
            </a:fld>
            <a:endParaRPr lang="zh-CN" altLang="en-US"/>
          </a:p>
        </p:txBody>
      </p:sp>
    </p:spTree>
    <p:extLst>
      <p:ext uri="{BB962C8B-B14F-4D97-AF65-F5344CB8AC3E}">
        <p14:creationId xmlns:p14="http://schemas.microsoft.com/office/powerpoint/2010/main" val="2504849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294DEFF-9854-460A-B238-D51559280971}" type="slidenum">
              <a:rPr lang="zh-CN" altLang="en-US" smtClean="0"/>
              <a:t>3</a:t>
            </a:fld>
            <a:endParaRPr lang="zh-CN" altLang="en-US"/>
          </a:p>
        </p:txBody>
      </p:sp>
    </p:spTree>
    <p:extLst>
      <p:ext uri="{BB962C8B-B14F-4D97-AF65-F5344CB8AC3E}">
        <p14:creationId xmlns:p14="http://schemas.microsoft.com/office/powerpoint/2010/main" val="3298148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294DEFF-9854-460A-B238-D51559280971}" type="slidenum">
              <a:rPr lang="zh-CN" altLang="en-US" smtClean="0"/>
              <a:t>4</a:t>
            </a:fld>
            <a:endParaRPr lang="zh-CN" altLang="en-US"/>
          </a:p>
        </p:txBody>
      </p:sp>
    </p:spTree>
    <p:extLst>
      <p:ext uri="{BB962C8B-B14F-4D97-AF65-F5344CB8AC3E}">
        <p14:creationId xmlns:p14="http://schemas.microsoft.com/office/powerpoint/2010/main" val="564033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294DEFF-9854-460A-B238-D51559280971}" type="slidenum">
              <a:rPr lang="zh-CN" altLang="en-US" smtClean="0"/>
              <a:t>5</a:t>
            </a:fld>
            <a:endParaRPr lang="zh-CN" altLang="en-US"/>
          </a:p>
        </p:txBody>
      </p:sp>
    </p:spTree>
    <p:extLst>
      <p:ext uri="{BB962C8B-B14F-4D97-AF65-F5344CB8AC3E}">
        <p14:creationId xmlns:p14="http://schemas.microsoft.com/office/powerpoint/2010/main" val="3210107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897918-5448-4288-AA29-E9F1FA654FC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40086DE-0DF2-42CA-8390-EC9C631A11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40ED90D-75D4-455A-A819-75AC1CEF0B4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5535C1BE-5252-499F-BD4B-5CD9905A5C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DB1181-850B-4AC4-933B-0C5CBE889777}"/>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143729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B1543-3310-45C1-BD8F-3AA59E1190F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BD13D61-32CF-40E0-AB03-AEAC1175146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204CD0-CA3F-4246-BE6A-F61140E6932F}"/>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CE55C20-8B25-4D29-BECA-96820F002E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46FB77-2ACF-43FB-B40B-654669FAB22B}"/>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3780880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CE676-19D8-4F3C-BB5E-4945BF21F4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6EB78F-AF8C-433B-812A-4165EBB79B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6BAAAB2-F99C-43FF-93A4-59FA8F216247}"/>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E3448F64-DADC-4BF2-837F-C44DAA07E9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9B8429-E6B6-49B2-82E4-ED00EF31F78D}"/>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142596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4BE91-F815-4CD1-901E-B814A302172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D60F513-7E50-4C61-9246-7EEB1DACDA6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DEEAB20-683B-46C6-8135-4B7A710909C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006BF52-236C-4D00-9C86-B3CE38C4A9FD}"/>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E26E831C-90C5-45D4-8461-BC6AECC280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311ABD-F104-4C34-B1A2-C0123410AD09}"/>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1326050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97C296-BF2B-4299-99A7-8C8608962F4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32813B4-9376-4BC6-956B-ADD30DB421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AD04C24-1055-4EF1-9453-15DAC20E966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290B162-AC12-4DC7-B8CD-875E81962C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E3DAA8E-043F-41C3-AF6D-CFB8C77D6A5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C5E25D7-88A0-4C99-BA74-2E601B01C328}"/>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5F1076B6-0343-4B80-BAE3-04EE79E09E7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B286DDA-A52B-40B8-89CE-376CA4CA66E3}"/>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150576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47E189-39A4-4C3A-81F3-237E4F4079D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16207B5-DB33-444D-980F-382FC9788DDB}"/>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E4503D1D-76DC-4152-AE63-CCE7007982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B4FCAC8-E7F9-4391-B49F-A6BA2D690849}"/>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4241922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B8AE539-9897-46FB-8C29-470677A9AF7E}"/>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6BB25769-0906-4D1A-8DF6-8CFD948569D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A343EEC-404B-454B-BDB3-5A8F5706EFC5}"/>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233982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60C285-6C89-4253-97DE-596AB762A08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D8860AA-6A8C-4D78-A7BE-B16A1270A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4227305-56DA-46C6-A890-768247AA56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9320E0-6835-4EDF-9451-F0470AAB4FE7}"/>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3788CCB9-DE8C-4541-A361-64668184D4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1F1DA76-BA99-4AB7-BE2E-F44E5462CDEC}"/>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2260041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85084-4BEA-4321-B6F1-0F24455B70E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5210D99-3A35-4FFC-A108-0F76723EFB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BE3648C-9669-4A28-A746-CBCDD8F144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3419334-D612-4D61-857D-FF629699C98C}"/>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CBB8A87-7BC8-4E33-959F-85BAF968B92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3F1598D-FC34-4F62-A150-F347A622AC01}"/>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3756810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F14EA1-98DC-4688-A20B-25D662B0AB8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0C9C9F3-3A00-4E5E-87FB-F2F93D5F96A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83F732-8033-4EF9-9772-18F9973F415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C7410F2A-0D14-4D63-8F1F-D89FD2170A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914577-7AC7-4B8B-9045-BE363450C3AC}"/>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3876975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0D4A400-AD75-46B6-BA42-25B37387837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B6E354-C574-4F27-9E27-C71013F4CFB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C66153E-4841-4E18-B95B-BEC826F0FD1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55EAAFB9-20DA-415D-9ACB-7AE02A76EE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04B37A-CBBF-44A5-9267-55CAFA11A210}"/>
              </a:ext>
            </a:extLst>
          </p:cNvPr>
          <p:cNvSpPr>
            <a:spLocks noGrp="1"/>
          </p:cNvSpPr>
          <p:nvPr>
            <p:ph type="sldNum" sz="quarter" idx="12"/>
          </p:nvPr>
        </p:nvSpPr>
        <p:spPr/>
        <p:txBody>
          <a:body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1747175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皮">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val="0"/>
              </a:ext>
            </a:extLst>
          </a:blip>
          <a:srcRect l="353" t="-144" r="72822" b="144"/>
          <a:stretch/>
        </p:blipFill>
        <p:spPr>
          <a:xfrm flipH="1">
            <a:off x="8695007" y="1874982"/>
            <a:ext cx="3496993" cy="4983018"/>
          </a:xfrm>
          <a:prstGeom prst="rect">
            <a:avLst/>
          </a:prstGeom>
        </p:spPr>
      </p:pic>
      <p:pic>
        <p:nvPicPr>
          <p:cNvPr id="4" name="图片 3"/>
          <p:cNvPicPr>
            <a:picLocks noChangeAspect="1"/>
          </p:cNvPicPr>
          <p:nvPr userDrawn="1"/>
        </p:nvPicPr>
        <p:blipFill rotWithShape="1">
          <a:blip r:embed="rId4">
            <a:extLst>
              <a:ext uri="{28A0092B-C50C-407E-A947-70E740481C1C}">
                <a14:useLocalDpi xmlns:a14="http://schemas.microsoft.com/office/drawing/2010/main" val="0"/>
              </a:ext>
            </a:extLst>
          </a:blip>
          <a:srcRect l="55940" t="136" r="19363"/>
          <a:stretch/>
        </p:blipFill>
        <p:spPr>
          <a:xfrm rot="10800000">
            <a:off x="0" y="-2"/>
            <a:ext cx="5011838" cy="6590715"/>
          </a:xfrm>
          <a:prstGeom prst="rect">
            <a:avLst/>
          </a:prstGeom>
        </p:spPr>
      </p:pic>
      <p:sp>
        <p:nvSpPr>
          <p:cNvPr id="2" name="日期占位符 1">
            <a:extLst>
              <a:ext uri="{FF2B5EF4-FFF2-40B4-BE49-F238E27FC236}">
                <a16:creationId xmlns:a16="http://schemas.microsoft.com/office/drawing/2014/main" id="{3E04EF12-C239-4B90-ACBD-4DA5AC807621}"/>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687DBA0C-6AC1-4946-95B0-6BB92FBAD90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FA3CB8C-29B8-41F9-B61C-A8DF4E20DB2D}"/>
              </a:ext>
            </a:extLst>
          </p:cNvPr>
          <p:cNvSpPr>
            <a:spLocks noGrp="1"/>
          </p:cNvSpPr>
          <p:nvPr>
            <p:ph type="sldNum" sz="quarter" idx="12"/>
          </p:nvPr>
        </p:nvSpPr>
        <p:spPr>
          <a:xfrm>
            <a:off x="9431910" y="6487755"/>
            <a:ext cx="2743200" cy="365125"/>
          </a:xfrm>
        </p:spPr>
        <p:txBody>
          <a:bodyPr/>
          <a:lstStyle>
            <a:lvl1pPr>
              <a:defRPr>
                <a:solidFill>
                  <a:schemeClr val="tx1"/>
                </a:solidFill>
                <a:latin typeface="微软雅黑" panose="020B0503020204020204" pitchFamily="34" charset="-122"/>
                <a:ea typeface="微软雅黑" panose="020B0503020204020204" pitchFamily="34" charset="-122"/>
              </a:defRPr>
            </a:lvl1pPr>
          </a:lstStyle>
          <a:p>
            <a:fld id="{CA71748E-C824-44A4-80B9-F8DE6AD98080}" type="slidenum">
              <a:rPr lang="zh-CN" altLang="en-US" smtClean="0"/>
              <a:pPr/>
              <a:t>‹#›</a:t>
            </a:fld>
            <a:endParaRPr lang="zh-CN" altLang="en-US" dirty="0"/>
          </a:p>
        </p:txBody>
      </p:sp>
    </p:spTree>
    <p:extLst>
      <p:ext uri="{BB962C8B-B14F-4D97-AF65-F5344CB8AC3E}">
        <p14:creationId xmlns:p14="http://schemas.microsoft.com/office/powerpoint/2010/main" val="3876999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基础版式">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55940" t="136" r="19363"/>
          <a:stretch/>
        </p:blipFill>
        <p:spPr>
          <a:xfrm rot="5400000" flipV="1">
            <a:off x="8064071" y="2730072"/>
            <a:ext cx="3328258" cy="4927600"/>
          </a:xfrm>
          <a:prstGeom prst="rect">
            <a:avLst/>
          </a:prstGeom>
        </p:spPr>
      </p:pic>
      <p:sp>
        <p:nvSpPr>
          <p:cNvPr id="8" name="矩形 7"/>
          <p:cNvSpPr/>
          <p:nvPr userDrawn="1"/>
        </p:nvSpPr>
        <p:spPr>
          <a:xfrm>
            <a:off x="0" y="-5880"/>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p:cNvPicPr>
            <a:picLocks noChangeAspect="1"/>
          </p:cNvPicPr>
          <p:nvPr userDrawn="1"/>
        </p:nvPicPr>
        <p:blipFill rotWithShape="1">
          <a:blip r:embed="rId3">
            <a:extLst>
              <a:ext uri="{28A0092B-C50C-407E-A947-70E740481C1C}">
                <a14:useLocalDpi xmlns:a14="http://schemas.microsoft.com/office/drawing/2010/main" val="0"/>
              </a:ext>
            </a:extLst>
          </a:blip>
          <a:srcRect l="61258" t="29421" r="23421" b="51115"/>
          <a:stretch/>
        </p:blipFill>
        <p:spPr>
          <a:xfrm>
            <a:off x="84183" y="0"/>
            <a:ext cx="774106" cy="656120"/>
          </a:xfrm>
          <a:prstGeom prst="rect">
            <a:avLst/>
          </a:prstGeom>
        </p:spPr>
      </p:pic>
      <p:sp>
        <p:nvSpPr>
          <p:cNvPr id="2" name="日期占位符 1">
            <a:extLst>
              <a:ext uri="{FF2B5EF4-FFF2-40B4-BE49-F238E27FC236}">
                <a16:creationId xmlns:a16="http://schemas.microsoft.com/office/drawing/2014/main" id="{C8632384-1236-4B48-9043-508EDB965A30}"/>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CC310FBA-878F-4562-81CF-9A87E6F1FC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C69B928-3BED-4BA7-A397-F90F9BEBC757}"/>
              </a:ext>
            </a:extLst>
          </p:cNvPr>
          <p:cNvSpPr>
            <a:spLocks noGrp="1"/>
          </p:cNvSpPr>
          <p:nvPr>
            <p:ph type="sldNum" sz="quarter" idx="12"/>
          </p:nvPr>
        </p:nvSpPr>
        <p:spPr>
          <a:xfrm>
            <a:off x="9437389" y="6487755"/>
            <a:ext cx="2743200" cy="365125"/>
          </a:xfrm>
        </p:spPr>
        <p:txBody>
          <a:bodyPr/>
          <a:lstStyle>
            <a:lvl1pPr>
              <a:defRPr>
                <a:solidFill>
                  <a:schemeClr val="tx1"/>
                </a:solidFill>
                <a:latin typeface="微软雅黑" panose="020B0503020204020204" pitchFamily="34" charset="-122"/>
                <a:ea typeface="微软雅黑" panose="020B0503020204020204" pitchFamily="34" charset="-122"/>
              </a:defRPr>
            </a:lvl1pPr>
          </a:lstStyle>
          <a:p>
            <a:fld id="{CA71748E-C824-44A4-80B9-F8DE6AD98080}" type="slidenum">
              <a:rPr lang="zh-CN" altLang="en-US" smtClean="0"/>
              <a:pPr/>
              <a:t>‹#›</a:t>
            </a:fld>
            <a:endParaRPr lang="zh-CN" altLang="en-US" dirty="0"/>
          </a:p>
        </p:txBody>
      </p:sp>
    </p:spTree>
    <p:extLst>
      <p:ext uri="{BB962C8B-B14F-4D97-AF65-F5344CB8AC3E}">
        <p14:creationId xmlns:p14="http://schemas.microsoft.com/office/powerpoint/2010/main" val="15993807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1E8B413-5E15-44DD-A5EC-87DD86E41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273249D-CE03-48B7-8525-E1FD87CCC2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CCDA7AD-817C-41F9-B907-D3313EDCC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E8FC8213-04A6-4D21-9486-3CACA08B7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3733B54-9D6B-4D0B-9C59-CAB03F5CB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AC6322-5D46-499A-A9A2-6BC508094EEF}" type="slidenum">
              <a:rPr lang="zh-CN" altLang="en-US" smtClean="0"/>
              <a:t>‹#›</a:t>
            </a:fld>
            <a:endParaRPr lang="zh-CN" altLang="en-US"/>
          </a:p>
        </p:txBody>
      </p:sp>
    </p:spTree>
    <p:extLst>
      <p:ext uri="{BB962C8B-B14F-4D97-AF65-F5344CB8AC3E}">
        <p14:creationId xmlns:p14="http://schemas.microsoft.com/office/powerpoint/2010/main" val="4294599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p:blipFill>
        <p:spPr>
          <a:xfrm>
            <a:off x="5721607" y="1348569"/>
            <a:ext cx="889138" cy="753619"/>
          </a:xfrm>
          <a:prstGeom prst="rect">
            <a:avLst/>
          </a:prstGeom>
        </p:spPr>
      </p:pic>
      <p:cxnSp>
        <p:nvCxnSpPr>
          <p:cNvPr id="28" name="直接连接符 27"/>
          <p:cNvCxnSpPr>
            <a:cxnSpLocks/>
          </p:cNvCxnSpPr>
          <p:nvPr/>
        </p:nvCxnSpPr>
        <p:spPr>
          <a:xfrm flipV="1">
            <a:off x="8873359" y="1284263"/>
            <a:ext cx="676411" cy="676415"/>
          </a:xfrm>
          <a:prstGeom prst="line">
            <a:avLst/>
          </a:prstGeom>
          <a:ln>
            <a:solidFill>
              <a:srgbClr val="ABDCDE"/>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cxnSpLocks/>
          </p:cNvCxnSpPr>
          <p:nvPr/>
        </p:nvCxnSpPr>
        <p:spPr>
          <a:xfrm flipV="1">
            <a:off x="1546652" y="5796355"/>
            <a:ext cx="716068" cy="716066"/>
          </a:xfrm>
          <a:prstGeom prst="line">
            <a:avLst/>
          </a:prstGeom>
          <a:ln>
            <a:solidFill>
              <a:srgbClr val="ABDCDE"/>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cxnSpLocks/>
          </p:cNvCxnSpPr>
          <p:nvPr/>
        </p:nvCxnSpPr>
        <p:spPr>
          <a:xfrm flipV="1">
            <a:off x="3441415" y="3691992"/>
            <a:ext cx="413625" cy="413624"/>
          </a:xfrm>
          <a:prstGeom prst="line">
            <a:avLst/>
          </a:prstGeom>
          <a:ln>
            <a:solidFill>
              <a:srgbClr val="ABDCDE"/>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cxnSpLocks/>
          </p:cNvCxnSpPr>
          <p:nvPr/>
        </p:nvCxnSpPr>
        <p:spPr>
          <a:xfrm flipV="1">
            <a:off x="7096157" y="4074288"/>
            <a:ext cx="682030" cy="596341"/>
          </a:xfrm>
          <a:prstGeom prst="line">
            <a:avLst/>
          </a:prstGeom>
          <a:ln>
            <a:solidFill>
              <a:srgbClr val="ABDCDE"/>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cxnSpLocks/>
          </p:cNvCxnSpPr>
          <p:nvPr/>
        </p:nvCxnSpPr>
        <p:spPr>
          <a:xfrm flipV="1">
            <a:off x="5654804" y="2864140"/>
            <a:ext cx="267551" cy="267555"/>
          </a:xfrm>
          <a:prstGeom prst="line">
            <a:avLst/>
          </a:prstGeom>
          <a:ln>
            <a:solidFill>
              <a:srgbClr val="ABDCDE"/>
            </a:solidFill>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p:blipFill>
        <p:spPr>
          <a:xfrm>
            <a:off x="6633655" y="1802870"/>
            <a:ext cx="889138" cy="753619"/>
          </a:xfrm>
          <a:prstGeom prst="rect">
            <a:avLst/>
          </a:prstGeom>
        </p:spPr>
      </p:pic>
      <p:sp>
        <p:nvSpPr>
          <p:cNvPr id="22" name="文本框 21"/>
          <p:cNvSpPr txBox="1"/>
          <p:nvPr/>
        </p:nvSpPr>
        <p:spPr>
          <a:xfrm>
            <a:off x="5690903" y="5488578"/>
            <a:ext cx="167380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rgbClr val="529DB2"/>
                </a:solidFill>
                <a:latin typeface="方正宋刻本秀楷简体" panose="02000000000000000000" pitchFamily="2" charset="-122"/>
                <a:ea typeface="方正宋刻本秀楷简体" panose="02000000000000000000" pitchFamily="2" charset="-122"/>
              </a:rPr>
              <a:t>汇报</a:t>
            </a:r>
            <a:r>
              <a:rPr kumimoji="0" lang="zh-CN" altLang="en-US" sz="1400" b="0" i="0" u="none" strike="noStrike" kern="1200" cap="none" spc="0" normalizeH="0" baseline="0" noProof="0" dirty="0">
                <a:ln>
                  <a:noFill/>
                </a:ln>
                <a:solidFill>
                  <a:srgbClr val="529DB2"/>
                </a:solidFill>
                <a:effectLst/>
                <a:uLnTx/>
                <a:uFillTx/>
                <a:latin typeface="方正宋刻本秀楷简体" panose="02000000000000000000" pitchFamily="2" charset="-122"/>
                <a:ea typeface="方正宋刻本秀楷简体" panose="02000000000000000000" pitchFamily="2" charset="-122"/>
                <a:cs typeface="+mn-cs"/>
              </a:rPr>
              <a:t>人：</a:t>
            </a:r>
            <a:r>
              <a:rPr lang="zh-CN" altLang="en-US" sz="1400" dirty="0">
                <a:solidFill>
                  <a:srgbClr val="529DB2"/>
                </a:solidFill>
                <a:latin typeface="方正宋刻本秀楷简体" panose="02000000000000000000" pitchFamily="2" charset="-122"/>
                <a:ea typeface="方正宋刻本秀楷简体" panose="02000000000000000000" pitchFamily="2" charset="-122"/>
              </a:rPr>
              <a:t>章阳阳</a:t>
            </a:r>
            <a:endParaRPr kumimoji="0" lang="zh-CN" altLang="en-US" sz="1400" b="0" i="0" u="none" strike="noStrike" kern="1200" cap="none" spc="0" normalizeH="0" baseline="0" noProof="0" dirty="0">
              <a:ln>
                <a:noFill/>
              </a:ln>
              <a:solidFill>
                <a:srgbClr val="529DB2"/>
              </a:solidFill>
              <a:effectLst/>
              <a:uLnTx/>
              <a:uFillTx/>
              <a:latin typeface="方正宋刻本秀楷简体" panose="02000000000000000000" pitchFamily="2" charset="-122"/>
              <a:ea typeface="方正宋刻本秀楷简体" panose="02000000000000000000" pitchFamily="2" charset="-122"/>
              <a:cs typeface="+mn-cs"/>
            </a:endParaRPr>
          </a:p>
        </p:txBody>
      </p:sp>
      <p:sp>
        <p:nvSpPr>
          <p:cNvPr id="23" name="Rectangle 5"/>
          <p:cNvSpPr>
            <a:spLocks noChangeArrowheads="1"/>
          </p:cNvSpPr>
          <p:nvPr/>
        </p:nvSpPr>
        <p:spPr bwMode="auto">
          <a:xfrm>
            <a:off x="5298010" y="5537364"/>
            <a:ext cx="209550" cy="209550"/>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529DB2"/>
              </a:solidFill>
              <a:effectLst/>
              <a:uLnTx/>
              <a:uFillTx/>
              <a:latin typeface="方正宋刻本秀楷简体" panose="02000000000000000000" pitchFamily="2" charset="-122"/>
              <a:ea typeface="方正宋刻本秀楷简体" panose="02000000000000000000" pitchFamily="2" charset="-122"/>
              <a:cs typeface="+mn-cs"/>
            </a:endParaRPr>
          </a:p>
        </p:txBody>
      </p:sp>
      <p:grpSp>
        <p:nvGrpSpPr>
          <p:cNvPr id="25" name="组合 24"/>
          <p:cNvGrpSpPr/>
          <p:nvPr/>
        </p:nvGrpSpPr>
        <p:grpSpPr>
          <a:xfrm>
            <a:off x="5537371" y="5559142"/>
            <a:ext cx="104968" cy="149989"/>
            <a:chOff x="11101388" y="-2608263"/>
            <a:chExt cx="4789488" cy="6843714"/>
          </a:xfrm>
          <a:solidFill>
            <a:schemeClr val="tx1"/>
          </a:solidFill>
        </p:grpSpPr>
        <p:sp>
          <p:nvSpPr>
            <p:cNvPr id="26" name="Freeform 11"/>
            <p:cNvSpPr>
              <a:spLocks/>
            </p:cNvSpPr>
            <p:nvPr/>
          </p:nvSpPr>
          <p:spPr bwMode="auto">
            <a:xfrm>
              <a:off x="11101388" y="641350"/>
              <a:ext cx="4789488" cy="3594101"/>
            </a:xfrm>
            <a:custGeom>
              <a:avLst/>
              <a:gdLst>
                <a:gd name="T0" fmla="*/ 3013 w 3017"/>
                <a:gd name="T1" fmla="*/ 80 h 2264"/>
                <a:gd name="T2" fmla="*/ 2986 w 3017"/>
                <a:gd name="T3" fmla="*/ 32 h 2264"/>
                <a:gd name="T4" fmla="*/ 2937 w 3017"/>
                <a:gd name="T5" fmla="*/ 4 h 2264"/>
                <a:gd name="T6" fmla="*/ 2881 w 3017"/>
                <a:gd name="T7" fmla="*/ 4 h 2264"/>
                <a:gd name="T8" fmla="*/ 2833 w 3017"/>
                <a:gd name="T9" fmla="*/ 32 h 2264"/>
                <a:gd name="T10" fmla="*/ 2805 w 3017"/>
                <a:gd name="T11" fmla="*/ 80 h 2264"/>
                <a:gd name="T12" fmla="*/ 2797 w 3017"/>
                <a:gd name="T13" fmla="*/ 210 h 2264"/>
                <a:gd name="T14" fmla="*/ 2767 w 3017"/>
                <a:gd name="T15" fmla="*/ 405 h 2264"/>
                <a:gd name="T16" fmla="*/ 2708 w 3017"/>
                <a:gd name="T17" fmla="*/ 589 h 2264"/>
                <a:gd name="T18" fmla="*/ 2624 w 3017"/>
                <a:gd name="T19" fmla="*/ 761 h 2264"/>
                <a:gd name="T20" fmla="*/ 2517 w 3017"/>
                <a:gd name="T21" fmla="*/ 917 h 2264"/>
                <a:gd name="T22" fmla="*/ 2389 w 3017"/>
                <a:gd name="T23" fmla="*/ 1055 h 2264"/>
                <a:gd name="T24" fmla="*/ 2241 w 3017"/>
                <a:gd name="T25" fmla="*/ 1173 h 2264"/>
                <a:gd name="T26" fmla="*/ 2076 w 3017"/>
                <a:gd name="T27" fmla="*/ 1270 h 2264"/>
                <a:gd name="T28" fmla="*/ 1898 w 3017"/>
                <a:gd name="T29" fmla="*/ 1342 h 2264"/>
                <a:gd name="T30" fmla="*/ 1708 w 3017"/>
                <a:gd name="T31" fmla="*/ 1387 h 2264"/>
                <a:gd name="T32" fmla="*/ 1508 w 3017"/>
                <a:gd name="T33" fmla="*/ 1401 h 2264"/>
                <a:gd name="T34" fmla="*/ 1309 w 3017"/>
                <a:gd name="T35" fmla="*/ 1387 h 2264"/>
                <a:gd name="T36" fmla="*/ 1119 w 3017"/>
                <a:gd name="T37" fmla="*/ 1342 h 2264"/>
                <a:gd name="T38" fmla="*/ 940 w 3017"/>
                <a:gd name="T39" fmla="*/ 1270 h 2264"/>
                <a:gd name="T40" fmla="*/ 776 w 3017"/>
                <a:gd name="T41" fmla="*/ 1173 h 2264"/>
                <a:gd name="T42" fmla="*/ 628 w 3017"/>
                <a:gd name="T43" fmla="*/ 1055 h 2264"/>
                <a:gd name="T44" fmla="*/ 500 w 3017"/>
                <a:gd name="T45" fmla="*/ 917 h 2264"/>
                <a:gd name="T46" fmla="*/ 393 w 3017"/>
                <a:gd name="T47" fmla="*/ 761 h 2264"/>
                <a:gd name="T48" fmla="*/ 308 w 3017"/>
                <a:gd name="T49" fmla="*/ 589 h 2264"/>
                <a:gd name="T50" fmla="*/ 250 w 3017"/>
                <a:gd name="T51" fmla="*/ 405 h 2264"/>
                <a:gd name="T52" fmla="*/ 220 w 3017"/>
                <a:gd name="T53" fmla="*/ 210 h 2264"/>
                <a:gd name="T54" fmla="*/ 212 w 3017"/>
                <a:gd name="T55" fmla="*/ 80 h 2264"/>
                <a:gd name="T56" fmla="*/ 183 w 3017"/>
                <a:gd name="T57" fmla="*/ 32 h 2264"/>
                <a:gd name="T58" fmla="*/ 136 w 3017"/>
                <a:gd name="T59" fmla="*/ 4 h 2264"/>
                <a:gd name="T60" fmla="*/ 79 w 3017"/>
                <a:gd name="T61" fmla="*/ 4 h 2264"/>
                <a:gd name="T62" fmla="*/ 32 w 3017"/>
                <a:gd name="T63" fmla="*/ 32 h 2264"/>
                <a:gd name="T64" fmla="*/ 4 w 3017"/>
                <a:gd name="T65" fmla="*/ 80 h 2264"/>
                <a:gd name="T66" fmla="*/ 4 w 3017"/>
                <a:gd name="T67" fmla="*/ 222 h 2264"/>
                <a:gd name="T68" fmla="*/ 37 w 3017"/>
                <a:gd name="T69" fmla="*/ 439 h 2264"/>
                <a:gd name="T70" fmla="*/ 100 w 3017"/>
                <a:gd name="T71" fmla="*/ 647 h 2264"/>
                <a:gd name="T72" fmla="*/ 190 w 3017"/>
                <a:gd name="T73" fmla="*/ 839 h 2264"/>
                <a:gd name="T74" fmla="*/ 305 w 3017"/>
                <a:gd name="T75" fmla="*/ 1018 h 2264"/>
                <a:gd name="T76" fmla="*/ 444 w 3017"/>
                <a:gd name="T77" fmla="*/ 1176 h 2264"/>
                <a:gd name="T78" fmla="*/ 604 w 3017"/>
                <a:gd name="T79" fmla="*/ 1315 h 2264"/>
                <a:gd name="T80" fmla="*/ 782 w 3017"/>
                <a:gd name="T81" fmla="*/ 1430 h 2264"/>
                <a:gd name="T82" fmla="*/ 975 w 3017"/>
                <a:gd name="T83" fmla="*/ 1520 h 2264"/>
                <a:gd name="T84" fmla="*/ 1182 w 3017"/>
                <a:gd name="T85" fmla="*/ 1582 h 2264"/>
                <a:gd name="T86" fmla="*/ 1401 w 3017"/>
                <a:gd name="T87" fmla="*/ 1613 h 2264"/>
                <a:gd name="T88" fmla="*/ 1401 w 3017"/>
                <a:gd name="T89" fmla="*/ 2156 h 2264"/>
                <a:gd name="T90" fmla="*/ 1415 w 3017"/>
                <a:gd name="T91" fmla="*/ 2210 h 2264"/>
                <a:gd name="T92" fmla="*/ 1454 w 3017"/>
                <a:gd name="T93" fmla="*/ 2249 h 2264"/>
                <a:gd name="T94" fmla="*/ 1508 w 3017"/>
                <a:gd name="T95" fmla="*/ 2264 h 2264"/>
                <a:gd name="T96" fmla="*/ 1563 w 3017"/>
                <a:gd name="T97" fmla="*/ 2249 h 2264"/>
                <a:gd name="T98" fmla="*/ 1601 w 3017"/>
                <a:gd name="T99" fmla="*/ 2210 h 2264"/>
                <a:gd name="T100" fmla="*/ 1617 w 3017"/>
                <a:gd name="T101" fmla="*/ 2156 h 2264"/>
                <a:gd name="T102" fmla="*/ 1617 w 3017"/>
                <a:gd name="T103" fmla="*/ 1613 h 2264"/>
                <a:gd name="T104" fmla="*/ 1835 w 3017"/>
                <a:gd name="T105" fmla="*/ 1582 h 2264"/>
                <a:gd name="T106" fmla="*/ 2042 w 3017"/>
                <a:gd name="T107" fmla="*/ 1520 h 2264"/>
                <a:gd name="T108" fmla="*/ 2236 w 3017"/>
                <a:gd name="T109" fmla="*/ 1430 h 2264"/>
                <a:gd name="T110" fmla="*/ 2414 w 3017"/>
                <a:gd name="T111" fmla="*/ 1315 h 2264"/>
                <a:gd name="T112" fmla="*/ 2573 w 3017"/>
                <a:gd name="T113" fmla="*/ 1176 h 2264"/>
                <a:gd name="T114" fmla="*/ 2712 w 3017"/>
                <a:gd name="T115" fmla="*/ 1018 h 2264"/>
                <a:gd name="T116" fmla="*/ 2827 w 3017"/>
                <a:gd name="T117" fmla="*/ 839 h 2264"/>
                <a:gd name="T118" fmla="*/ 2918 w 3017"/>
                <a:gd name="T119" fmla="*/ 647 h 2264"/>
                <a:gd name="T120" fmla="*/ 2980 w 3017"/>
                <a:gd name="T121" fmla="*/ 439 h 2264"/>
                <a:gd name="T122" fmla="*/ 3013 w 3017"/>
                <a:gd name="T123" fmla="*/ 222 h 2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17" h="2264">
                  <a:moveTo>
                    <a:pt x="3017" y="108"/>
                  </a:moveTo>
                  <a:lnTo>
                    <a:pt x="3013" y="80"/>
                  </a:lnTo>
                  <a:lnTo>
                    <a:pt x="3003" y="54"/>
                  </a:lnTo>
                  <a:lnTo>
                    <a:pt x="2986" y="32"/>
                  </a:lnTo>
                  <a:lnTo>
                    <a:pt x="2963" y="16"/>
                  </a:lnTo>
                  <a:lnTo>
                    <a:pt x="2937" y="4"/>
                  </a:lnTo>
                  <a:lnTo>
                    <a:pt x="2910" y="0"/>
                  </a:lnTo>
                  <a:lnTo>
                    <a:pt x="2881" y="4"/>
                  </a:lnTo>
                  <a:lnTo>
                    <a:pt x="2855" y="16"/>
                  </a:lnTo>
                  <a:lnTo>
                    <a:pt x="2833" y="32"/>
                  </a:lnTo>
                  <a:lnTo>
                    <a:pt x="2816" y="54"/>
                  </a:lnTo>
                  <a:lnTo>
                    <a:pt x="2805" y="80"/>
                  </a:lnTo>
                  <a:lnTo>
                    <a:pt x="2801" y="108"/>
                  </a:lnTo>
                  <a:lnTo>
                    <a:pt x="2797" y="210"/>
                  </a:lnTo>
                  <a:lnTo>
                    <a:pt x="2785" y="308"/>
                  </a:lnTo>
                  <a:lnTo>
                    <a:pt x="2767" y="405"/>
                  </a:lnTo>
                  <a:lnTo>
                    <a:pt x="2741" y="498"/>
                  </a:lnTo>
                  <a:lnTo>
                    <a:pt x="2708" y="589"/>
                  </a:lnTo>
                  <a:lnTo>
                    <a:pt x="2670" y="677"/>
                  </a:lnTo>
                  <a:lnTo>
                    <a:pt x="2624" y="761"/>
                  </a:lnTo>
                  <a:lnTo>
                    <a:pt x="2573" y="841"/>
                  </a:lnTo>
                  <a:lnTo>
                    <a:pt x="2517" y="917"/>
                  </a:lnTo>
                  <a:lnTo>
                    <a:pt x="2456" y="989"/>
                  </a:lnTo>
                  <a:lnTo>
                    <a:pt x="2389" y="1055"/>
                  </a:lnTo>
                  <a:lnTo>
                    <a:pt x="2317" y="1117"/>
                  </a:lnTo>
                  <a:lnTo>
                    <a:pt x="2241" y="1173"/>
                  </a:lnTo>
                  <a:lnTo>
                    <a:pt x="2161" y="1224"/>
                  </a:lnTo>
                  <a:lnTo>
                    <a:pt x="2076" y="1270"/>
                  </a:lnTo>
                  <a:lnTo>
                    <a:pt x="1990" y="1309"/>
                  </a:lnTo>
                  <a:lnTo>
                    <a:pt x="1898" y="1342"/>
                  </a:lnTo>
                  <a:lnTo>
                    <a:pt x="1805" y="1367"/>
                  </a:lnTo>
                  <a:lnTo>
                    <a:pt x="1708" y="1387"/>
                  </a:lnTo>
                  <a:lnTo>
                    <a:pt x="1610" y="1397"/>
                  </a:lnTo>
                  <a:lnTo>
                    <a:pt x="1508" y="1401"/>
                  </a:lnTo>
                  <a:lnTo>
                    <a:pt x="1407" y="1397"/>
                  </a:lnTo>
                  <a:lnTo>
                    <a:pt x="1309" y="1387"/>
                  </a:lnTo>
                  <a:lnTo>
                    <a:pt x="1212" y="1367"/>
                  </a:lnTo>
                  <a:lnTo>
                    <a:pt x="1119" y="1342"/>
                  </a:lnTo>
                  <a:lnTo>
                    <a:pt x="1028" y="1309"/>
                  </a:lnTo>
                  <a:lnTo>
                    <a:pt x="940" y="1270"/>
                  </a:lnTo>
                  <a:lnTo>
                    <a:pt x="856" y="1224"/>
                  </a:lnTo>
                  <a:lnTo>
                    <a:pt x="776" y="1173"/>
                  </a:lnTo>
                  <a:lnTo>
                    <a:pt x="700" y="1117"/>
                  </a:lnTo>
                  <a:lnTo>
                    <a:pt x="628" y="1055"/>
                  </a:lnTo>
                  <a:lnTo>
                    <a:pt x="562" y="989"/>
                  </a:lnTo>
                  <a:lnTo>
                    <a:pt x="500" y="917"/>
                  </a:lnTo>
                  <a:lnTo>
                    <a:pt x="444" y="841"/>
                  </a:lnTo>
                  <a:lnTo>
                    <a:pt x="393" y="761"/>
                  </a:lnTo>
                  <a:lnTo>
                    <a:pt x="347" y="677"/>
                  </a:lnTo>
                  <a:lnTo>
                    <a:pt x="308" y="589"/>
                  </a:lnTo>
                  <a:lnTo>
                    <a:pt x="275" y="498"/>
                  </a:lnTo>
                  <a:lnTo>
                    <a:pt x="250" y="405"/>
                  </a:lnTo>
                  <a:lnTo>
                    <a:pt x="231" y="308"/>
                  </a:lnTo>
                  <a:lnTo>
                    <a:pt x="220" y="210"/>
                  </a:lnTo>
                  <a:lnTo>
                    <a:pt x="216" y="108"/>
                  </a:lnTo>
                  <a:lnTo>
                    <a:pt x="212" y="80"/>
                  </a:lnTo>
                  <a:lnTo>
                    <a:pt x="200" y="54"/>
                  </a:lnTo>
                  <a:lnTo>
                    <a:pt x="183" y="32"/>
                  </a:lnTo>
                  <a:lnTo>
                    <a:pt x="162" y="16"/>
                  </a:lnTo>
                  <a:lnTo>
                    <a:pt x="136" y="4"/>
                  </a:lnTo>
                  <a:lnTo>
                    <a:pt x="107" y="0"/>
                  </a:lnTo>
                  <a:lnTo>
                    <a:pt x="79" y="4"/>
                  </a:lnTo>
                  <a:lnTo>
                    <a:pt x="54" y="16"/>
                  </a:lnTo>
                  <a:lnTo>
                    <a:pt x="32" y="32"/>
                  </a:lnTo>
                  <a:lnTo>
                    <a:pt x="15" y="54"/>
                  </a:lnTo>
                  <a:lnTo>
                    <a:pt x="4" y="80"/>
                  </a:lnTo>
                  <a:lnTo>
                    <a:pt x="0" y="108"/>
                  </a:lnTo>
                  <a:lnTo>
                    <a:pt x="4" y="222"/>
                  </a:lnTo>
                  <a:lnTo>
                    <a:pt x="17" y="332"/>
                  </a:lnTo>
                  <a:lnTo>
                    <a:pt x="37" y="439"/>
                  </a:lnTo>
                  <a:lnTo>
                    <a:pt x="64" y="545"/>
                  </a:lnTo>
                  <a:lnTo>
                    <a:pt x="100" y="647"/>
                  </a:lnTo>
                  <a:lnTo>
                    <a:pt x="142" y="745"/>
                  </a:lnTo>
                  <a:lnTo>
                    <a:pt x="190" y="839"/>
                  </a:lnTo>
                  <a:lnTo>
                    <a:pt x="245" y="931"/>
                  </a:lnTo>
                  <a:lnTo>
                    <a:pt x="305" y="1018"/>
                  </a:lnTo>
                  <a:lnTo>
                    <a:pt x="372" y="1100"/>
                  </a:lnTo>
                  <a:lnTo>
                    <a:pt x="444" y="1176"/>
                  </a:lnTo>
                  <a:lnTo>
                    <a:pt x="521" y="1248"/>
                  </a:lnTo>
                  <a:lnTo>
                    <a:pt x="604" y="1315"/>
                  </a:lnTo>
                  <a:lnTo>
                    <a:pt x="690" y="1375"/>
                  </a:lnTo>
                  <a:lnTo>
                    <a:pt x="782" y="1430"/>
                  </a:lnTo>
                  <a:lnTo>
                    <a:pt x="876" y="1478"/>
                  </a:lnTo>
                  <a:lnTo>
                    <a:pt x="975" y="1520"/>
                  </a:lnTo>
                  <a:lnTo>
                    <a:pt x="1077" y="1554"/>
                  </a:lnTo>
                  <a:lnTo>
                    <a:pt x="1182" y="1582"/>
                  </a:lnTo>
                  <a:lnTo>
                    <a:pt x="1291" y="1601"/>
                  </a:lnTo>
                  <a:lnTo>
                    <a:pt x="1401" y="1613"/>
                  </a:lnTo>
                  <a:lnTo>
                    <a:pt x="1401" y="1617"/>
                  </a:lnTo>
                  <a:lnTo>
                    <a:pt x="1401" y="2156"/>
                  </a:lnTo>
                  <a:lnTo>
                    <a:pt x="1405" y="2185"/>
                  </a:lnTo>
                  <a:lnTo>
                    <a:pt x="1415" y="2210"/>
                  </a:lnTo>
                  <a:lnTo>
                    <a:pt x="1432" y="2232"/>
                  </a:lnTo>
                  <a:lnTo>
                    <a:pt x="1454" y="2249"/>
                  </a:lnTo>
                  <a:lnTo>
                    <a:pt x="1480" y="2260"/>
                  </a:lnTo>
                  <a:lnTo>
                    <a:pt x="1508" y="2264"/>
                  </a:lnTo>
                  <a:lnTo>
                    <a:pt x="1537" y="2260"/>
                  </a:lnTo>
                  <a:lnTo>
                    <a:pt x="1563" y="2249"/>
                  </a:lnTo>
                  <a:lnTo>
                    <a:pt x="1585" y="2232"/>
                  </a:lnTo>
                  <a:lnTo>
                    <a:pt x="1601" y="2210"/>
                  </a:lnTo>
                  <a:lnTo>
                    <a:pt x="1613" y="2185"/>
                  </a:lnTo>
                  <a:lnTo>
                    <a:pt x="1617" y="2156"/>
                  </a:lnTo>
                  <a:lnTo>
                    <a:pt x="1617" y="1617"/>
                  </a:lnTo>
                  <a:lnTo>
                    <a:pt x="1617" y="1613"/>
                  </a:lnTo>
                  <a:lnTo>
                    <a:pt x="1727" y="1601"/>
                  </a:lnTo>
                  <a:lnTo>
                    <a:pt x="1835" y="1582"/>
                  </a:lnTo>
                  <a:lnTo>
                    <a:pt x="1940" y="1554"/>
                  </a:lnTo>
                  <a:lnTo>
                    <a:pt x="2042" y="1520"/>
                  </a:lnTo>
                  <a:lnTo>
                    <a:pt x="2140" y="1478"/>
                  </a:lnTo>
                  <a:lnTo>
                    <a:pt x="2236" y="1430"/>
                  </a:lnTo>
                  <a:lnTo>
                    <a:pt x="2327" y="1375"/>
                  </a:lnTo>
                  <a:lnTo>
                    <a:pt x="2414" y="1315"/>
                  </a:lnTo>
                  <a:lnTo>
                    <a:pt x="2496" y="1248"/>
                  </a:lnTo>
                  <a:lnTo>
                    <a:pt x="2573" y="1176"/>
                  </a:lnTo>
                  <a:lnTo>
                    <a:pt x="2645" y="1100"/>
                  </a:lnTo>
                  <a:lnTo>
                    <a:pt x="2712" y="1018"/>
                  </a:lnTo>
                  <a:lnTo>
                    <a:pt x="2772" y="931"/>
                  </a:lnTo>
                  <a:lnTo>
                    <a:pt x="2827" y="839"/>
                  </a:lnTo>
                  <a:lnTo>
                    <a:pt x="2876" y="745"/>
                  </a:lnTo>
                  <a:lnTo>
                    <a:pt x="2918" y="647"/>
                  </a:lnTo>
                  <a:lnTo>
                    <a:pt x="2953" y="545"/>
                  </a:lnTo>
                  <a:lnTo>
                    <a:pt x="2980" y="439"/>
                  </a:lnTo>
                  <a:lnTo>
                    <a:pt x="3000" y="332"/>
                  </a:lnTo>
                  <a:lnTo>
                    <a:pt x="3013" y="222"/>
                  </a:lnTo>
                  <a:lnTo>
                    <a:pt x="3017" y="10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529DB2"/>
                </a:solidFill>
                <a:effectLst/>
                <a:uLnTx/>
                <a:uFillTx/>
                <a:latin typeface="方正宋刻本秀楷简体" panose="02000000000000000000" pitchFamily="2" charset="-122"/>
                <a:ea typeface="方正宋刻本秀楷简体" panose="02000000000000000000" pitchFamily="2" charset="-122"/>
                <a:cs typeface="+mn-cs"/>
              </a:endParaRPr>
            </a:p>
          </p:txBody>
        </p:sp>
        <p:sp>
          <p:nvSpPr>
            <p:cNvPr id="27" name="Freeform 12"/>
            <p:cNvSpPr>
              <a:spLocks noEditPoints="1"/>
            </p:cNvSpPr>
            <p:nvPr/>
          </p:nvSpPr>
          <p:spPr bwMode="auto">
            <a:xfrm>
              <a:off x="11957050" y="-2608263"/>
              <a:ext cx="3078163" cy="4960938"/>
            </a:xfrm>
            <a:custGeom>
              <a:avLst/>
              <a:gdLst>
                <a:gd name="T0" fmla="*/ 1144 w 1939"/>
                <a:gd name="T1" fmla="*/ 3110 h 3125"/>
                <a:gd name="T2" fmla="*/ 1385 w 1939"/>
                <a:gd name="T3" fmla="*/ 3032 h 3125"/>
                <a:gd name="T4" fmla="*/ 1595 w 1939"/>
                <a:gd name="T5" fmla="*/ 2897 h 3125"/>
                <a:gd name="T6" fmla="*/ 1762 w 1939"/>
                <a:gd name="T7" fmla="*/ 2715 h 3125"/>
                <a:gd name="T8" fmla="*/ 1879 w 1939"/>
                <a:gd name="T9" fmla="*/ 2494 h 3125"/>
                <a:gd name="T10" fmla="*/ 1935 w 1939"/>
                <a:gd name="T11" fmla="*/ 2244 h 3125"/>
                <a:gd name="T12" fmla="*/ 1935 w 1939"/>
                <a:gd name="T13" fmla="*/ 882 h 3125"/>
                <a:gd name="T14" fmla="*/ 1879 w 1939"/>
                <a:gd name="T15" fmla="*/ 632 h 3125"/>
                <a:gd name="T16" fmla="*/ 1762 w 1939"/>
                <a:gd name="T17" fmla="*/ 411 h 3125"/>
                <a:gd name="T18" fmla="*/ 1595 w 1939"/>
                <a:gd name="T19" fmla="*/ 228 h 3125"/>
                <a:gd name="T20" fmla="*/ 1385 w 1939"/>
                <a:gd name="T21" fmla="*/ 94 h 3125"/>
                <a:gd name="T22" fmla="*/ 1144 w 1939"/>
                <a:gd name="T23" fmla="*/ 16 h 3125"/>
                <a:gd name="T24" fmla="*/ 881 w 1939"/>
                <a:gd name="T25" fmla="*/ 4 h 3125"/>
                <a:gd name="T26" fmla="*/ 631 w 1939"/>
                <a:gd name="T27" fmla="*/ 61 h 3125"/>
                <a:gd name="T28" fmla="*/ 410 w 1939"/>
                <a:gd name="T29" fmla="*/ 178 h 3125"/>
                <a:gd name="T30" fmla="*/ 228 w 1939"/>
                <a:gd name="T31" fmla="*/ 346 h 3125"/>
                <a:gd name="T32" fmla="*/ 93 w 1939"/>
                <a:gd name="T33" fmla="*/ 554 h 3125"/>
                <a:gd name="T34" fmla="*/ 15 w 1939"/>
                <a:gd name="T35" fmla="*/ 796 h 3125"/>
                <a:gd name="T36" fmla="*/ 0 w 1939"/>
                <a:gd name="T37" fmla="*/ 2155 h 3125"/>
                <a:gd name="T38" fmla="*/ 34 w 1939"/>
                <a:gd name="T39" fmla="*/ 2414 h 3125"/>
                <a:gd name="T40" fmla="*/ 133 w 1939"/>
                <a:gd name="T41" fmla="*/ 2646 h 3125"/>
                <a:gd name="T42" fmla="*/ 284 w 1939"/>
                <a:gd name="T43" fmla="*/ 2841 h 3125"/>
                <a:gd name="T44" fmla="*/ 479 w 1939"/>
                <a:gd name="T45" fmla="*/ 2993 h 3125"/>
                <a:gd name="T46" fmla="*/ 711 w 1939"/>
                <a:gd name="T47" fmla="*/ 3091 h 3125"/>
                <a:gd name="T48" fmla="*/ 969 w 1939"/>
                <a:gd name="T49" fmla="*/ 3125 h 3125"/>
                <a:gd name="T50" fmla="*/ 231 w 1939"/>
                <a:gd name="T51" fmla="*/ 818 h 3125"/>
                <a:gd name="T52" fmla="*/ 307 w 1939"/>
                <a:gd name="T53" fmla="*/ 611 h 3125"/>
                <a:gd name="T54" fmla="*/ 436 w 1939"/>
                <a:gd name="T55" fmla="*/ 437 h 3125"/>
                <a:gd name="T56" fmla="*/ 610 w 1939"/>
                <a:gd name="T57" fmla="*/ 308 h 3125"/>
                <a:gd name="T58" fmla="*/ 817 w 1939"/>
                <a:gd name="T59" fmla="*/ 232 h 3125"/>
                <a:gd name="T60" fmla="*/ 1046 w 1939"/>
                <a:gd name="T61" fmla="*/ 220 h 3125"/>
                <a:gd name="T62" fmla="*/ 1262 w 1939"/>
                <a:gd name="T63" fmla="*/ 275 h 3125"/>
                <a:gd name="T64" fmla="*/ 1449 w 1939"/>
                <a:gd name="T65" fmla="*/ 389 h 3125"/>
                <a:gd name="T66" fmla="*/ 1595 w 1939"/>
                <a:gd name="T67" fmla="*/ 548 h 3125"/>
                <a:gd name="T68" fmla="*/ 1690 w 1939"/>
                <a:gd name="T69" fmla="*/ 746 h 3125"/>
                <a:gd name="T70" fmla="*/ 1724 w 1939"/>
                <a:gd name="T71" fmla="*/ 970 h 3125"/>
                <a:gd name="T72" fmla="*/ 1708 w 1939"/>
                <a:gd name="T73" fmla="*/ 2308 h 3125"/>
                <a:gd name="T74" fmla="*/ 1633 w 1939"/>
                <a:gd name="T75" fmla="*/ 2515 h 3125"/>
                <a:gd name="T76" fmla="*/ 1503 w 1939"/>
                <a:gd name="T77" fmla="*/ 2689 h 3125"/>
                <a:gd name="T78" fmla="*/ 1329 w 1939"/>
                <a:gd name="T79" fmla="*/ 2818 h 3125"/>
                <a:gd name="T80" fmla="*/ 1121 w 1939"/>
                <a:gd name="T81" fmla="*/ 2894 h 3125"/>
                <a:gd name="T82" fmla="*/ 893 w 1939"/>
                <a:gd name="T83" fmla="*/ 2906 h 3125"/>
                <a:gd name="T84" fmla="*/ 676 w 1939"/>
                <a:gd name="T85" fmla="*/ 2850 h 3125"/>
                <a:gd name="T86" fmla="*/ 490 w 1939"/>
                <a:gd name="T87" fmla="*/ 2737 h 3125"/>
                <a:gd name="T88" fmla="*/ 345 w 1939"/>
                <a:gd name="T89" fmla="*/ 2578 h 3125"/>
                <a:gd name="T90" fmla="*/ 249 w 1939"/>
                <a:gd name="T91" fmla="*/ 2380 h 3125"/>
                <a:gd name="T92" fmla="*/ 215 w 1939"/>
                <a:gd name="T93" fmla="*/ 2155 h 3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39" h="3125">
                  <a:moveTo>
                    <a:pt x="969" y="3125"/>
                  </a:moveTo>
                  <a:lnTo>
                    <a:pt x="1058" y="3121"/>
                  </a:lnTo>
                  <a:lnTo>
                    <a:pt x="1144" y="3110"/>
                  </a:lnTo>
                  <a:lnTo>
                    <a:pt x="1227" y="3091"/>
                  </a:lnTo>
                  <a:lnTo>
                    <a:pt x="1308" y="3065"/>
                  </a:lnTo>
                  <a:lnTo>
                    <a:pt x="1385" y="3032"/>
                  </a:lnTo>
                  <a:lnTo>
                    <a:pt x="1458" y="2993"/>
                  </a:lnTo>
                  <a:lnTo>
                    <a:pt x="1529" y="2948"/>
                  </a:lnTo>
                  <a:lnTo>
                    <a:pt x="1595" y="2897"/>
                  </a:lnTo>
                  <a:lnTo>
                    <a:pt x="1655" y="2841"/>
                  </a:lnTo>
                  <a:lnTo>
                    <a:pt x="1711" y="2780"/>
                  </a:lnTo>
                  <a:lnTo>
                    <a:pt x="1762" y="2715"/>
                  </a:lnTo>
                  <a:lnTo>
                    <a:pt x="1807" y="2646"/>
                  </a:lnTo>
                  <a:lnTo>
                    <a:pt x="1846" y="2571"/>
                  </a:lnTo>
                  <a:lnTo>
                    <a:pt x="1879" y="2494"/>
                  </a:lnTo>
                  <a:lnTo>
                    <a:pt x="1905" y="2414"/>
                  </a:lnTo>
                  <a:lnTo>
                    <a:pt x="1923" y="2330"/>
                  </a:lnTo>
                  <a:lnTo>
                    <a:pt x="1935" y="2244"/>
                  </a:lnTo>
                  <a:lnTo>
                    <a:pt x="1939" y="2155"/>
                  </a:lnTo>
                  <a:lnTo>
                    <a:pt x="1939" y="970"/>
                  </a:lnTo>
                  <a:lnTo>
                    <a:pt x="1935" y="882"/>
                  </a:lnTo>
                  <a:lnTo>
                    <a:pt x="1923" y="796"/>
                  </a:lnTo>
                  <a:lnTo>
                    <a:pt x="1905" y="712"/>
                  </a:lnTo>
                  <a:lnTo>
                    <a:pt x="1879" y="632"/>
                  </a:lnTo>
                  <a:lnTo>
                    <a:pt x="1846" y="554"/>
                  </a:lnTo>
                  <a:lnTo>
                    <a:pt x="1807" y="480"/>
                  </a:lnTo>
                  <a:lnTo>
                    <a:pt x="1762" y="411"/>
                  </a:lnTo>
                  <a:lnTo>
                    <a:pt x="1711" y="346"/>
                  </a:lnTo>
                  <a:lnTo>
                    <a:pt x="1655" y="284"/>
                  </a:lnTo>
                  <a:lnTo>
                    <a:pt x="1595" y="228"/>
                  </a:lnTo>
                  <a:lnTo>
                    <a:pt x="1529" y="178"/>
                  </a:lnTo>
                  <a:lnTo>
                    <a:pt x="1458" y="132"/>
                  </a:lnTo>
                  <a:lnTo>
                    <a:pt x="1385" y="94"/>
                  </a:lnTo>
                  <a:lnTo>
                    <a:pt x="1308" y="61"/>
                  </a:lnTo>
                  <a:lnTo>
                    <a:pt x="1227" y="35"/>
                  </a:lnTo>
                  <a:lnTo>
                    <a:pt x="1144" y="16"/>
                  </a:lnTo>
                  <a:lnTo>
                    <a:pt x="1058" y="4"/>
                  </a:lnTo>
                  <a:lnTo>
                    <a:pt x="969" y="0"/>
                  </a:lnTo>
                  <a:lnTo>
                    <a:pt x="881" y="4"/>
                  </a:lnTo>
                  <a:lnTo>
                    <a:pt x="795" y="16"/>
                  </a:lnTo>
                  <a:lnTo>
                    <a:pt x="711" y="35"/>
                  </a:lnTo>
                  <a:lnTo>
                    <a:pt x="631" y="61"/>
                  </a:lnTo>
                  <a:lnTo>
                    <a:pt x="554" y="94"/>
                  </a:lnTo>
                  <a:lnTo>
                    <a:pt x="479" y="132"/>
                  </a:lnTo>
                  <a:lnTo>
                    <a:pt x="410" y="178"/>
                  </a:lnTo>
                  <a:lnTo>
                    <a:pt x="345" y="228"/>
                  </a:lnTo>
                  <a:lnTo>
                    <a:pt x="284" y="284"/>
                  </a:lnTo>
                  <a:lnTo>
                    <a:pt x="228" y="346"/>
                  </a:lnTo>
                  <a:lnTo>
                    <a:pt x="177" y="411"/>
                  </a:lnTo>
                  <a:lnTo>
                    <a:pt x="133" y="480"/>
                  </a:lnTo>
                  <a:lnTo>
                    <a:pt x="93" y="554"/>
                  </a:lnTo>
                  <a:lnTo>
                    <a:pt x="61" y="632"/>
                  </a:lnTo>
                  <a:lnTo>
                    <a:pt x="34" y="712"/>
                  </a:lnTo>
                  <a:lnTo>
                    <a:pt x="15" y="796"/>
                  </a:lnTo>
                  <a:lnTo>
                    <a:pt x="4" y="882"/>
                  </a:lnTo>
                  <a:lnTo>
                    <a:pt x="0" y="970"/>
                  </a:lnTo>
                  <a:lnTo>
                    <a:pt x="0" y="2155"/>
                  </a:lnTo>
                  <a:lnTo>
                    <a:pt x="4" y="2244"/>
                  </a:lnTo>
                  <a:lnTo>
                    <a:pt x="15" y="2330"/>
                  </a:lnTo>
                  <a:lnTo>
                    <a:pt x="34" y="2414"/>
                  </a:lnTo>
                  <a:lnTo>
                    <a:pt x="61" y="2494"/>
                  </a:lnTo>
                  <a:lnTo>
                    <a:pt x="93" y="2571"/>
                  </a:lnTo>
                  <a:lnTo>
                    <a:pt x="133" y="2646"/>
                  </a:lnTo>
                  <a:lnTo>
                    <a:pt x="177" y="2715"/>
                  </a:lnTo>
                  <a:lnTo>
                    <a:pt x="228" y="2780"/>
                  </a:lnTo>
                  <a:lnTo>
                    <a:pt x="284" y="2841"/>
                  </a:lnTo>
                  <a:lnTo>
                    <a:pt x="345" y="2897"/>
                  </a:lnTo>
                  <a:lnTo>
                    <a:pt x="410" y="2948"/>
                  </a:lnTo>
                  <a:lnTo>
                    <a:pt x="479" y="2993"/>
                  </a:lnTo>
                  <a:lnTo>
                    <a:pt x="554" y="3032"/>
                  </a:lnTo>
                  <a:lnTo>
                    <a:pt x="631" y="3065"/>
                  </a:lnTo>
                  <a:lnTo>
                    <a:pt x="711" y="3091"/>
                  </a:lnTo>
                  <a:lnTo>
                    <a:pt x="795" y="3110"/>
                  </a:lnTo>
                  <a:lnTo>
                    <a:pt x="881" y="3121"/>
                  </a:lnTo>
                  <a:lnTo>
                    <a:pt x="969" y="3125"/>
                  </a:lnTo>
                  <a:close/>
                  <a:moveTo>
                    <a:pt x="215" y="970"/>
                  </a:moveTo>
                  <a:lnTo>
                    <a:pt x="219" y="893"/>
                  </a:lnTo>
                  <a:lnTo>
                    <a:pt x="231" y="818"/>
                  </a:lnTo>
                  <a:lnTo>
                    <a:pt x="249" y="746"/>
                  </a:lnTo>
                  <a:lnTo>
                    <a:pt x="275" y="677"/>
                  </a:lnTo>
                  <a:lnTo>
                    <a:pt x="307" y="611"/>
                  </a:lnTo>
                  <a:lnTo>
                    <a:pt x="345" y="548"/>
                  </a:lnTo>
                  <a:lnTo>
                    <a:pt x="388" y="491"/>
                  </a:lnTo>
                  <a:lnTo>
                    <a:pt x="436" y="437"/>
                  </a:lnTo>
                  <a:lnTo>
                    <a:pt x="490" y="389"/>
                  </a:lnTo>
                  <a:lnTo>
                    <a:pt x="548" y="344"/>
                  </a:lnTo>
                  <a:lnTo>
                    <a:pt x="610" y="308"/>
                  </a:lnTo>
                  <a:lnTo>
                    <a:pt x="676" y="275"/>
                  </a:lnTo>
                  <a:lnTo>
                    <a:pt x="745" y="250"/>
                  </a:lnTo>
                  <a:lnTo>
                    <a:pt x="817" y="232"/>
                  </a:lnTo>
                  <a:lnTo>
                    <a:pt x="893" y="220"/>
                  </a:lnTo>
                  <a:lnTo>
                    <a:pt x="969" y="216"/>
                  </a:lnTo>
                  <a:lnTo>
                    <a:pt x="1046" y="220"/>
                  </a:lnTo>
                  <a:lnTo>
                    <a:pt x="1121" y="232"/>
                  </a:lnTo>
                  <a:lnTo>
                    <a:pt x="1194" y="250"/>
                  </a:lnTo>
                  <a:lnTo>
                    <a:pt x="1262" y="275"/>
                  </a:lnTo>
                  <a:lnTo>
                    <a:pt x="1329" y="308"/>
                  </a:lnTo>
                  <a:lnTo>
                    <a:pt x="1390" y="344"/>
                  </a:lnTo>
                  <a:lnTo>
                    <a:pt x="1449" y="389"/>
                  </a:lnTo>
                  <a:lnTo>
                    <a:pt x="1503" y="437"/>
                  </a:lnTo>
                  <a:lnTo>
                    <a:pt x="1551" y="491"/>
                  </a:lnTo>
                  <a:lnTo>
                    <a:pt x="1595" y="548"/>
                  </a:lnTo>
                  <a:lnTo>
                    <a:pt x="1633" y="611"/>
                  </a:lnTo>
                  <a:lnTo>
                    <a:pt x="1664" y="677"/>
                  </a:lnTo>
                  <a:lnTo>
                    <a:pt x="1690" y="746"/>
                  </a:lnTo>
                  <a:lnTo>
                    <a:pt x="1708" y="818"/>
                  </a:lnTo>
                  <a:lnTo>
                    <a:pt x="1720" y="893"/>
                  </a:lnTo>
                  <a:lnTo>
                    <a:pt x="1724" y="970"/>
                  </a:lnTo>
                  <a:lnTo>
                    <a:pt x="1724" y="2155"/>
                  </a:lnTo>
                  <a:lnTo>
                    <a:pt x="1720" y="2232"/>
                  </a:lnTo>
                  <a:lnTo>
                    <a:pt x="1708" y="2308"/>
                  </a:lnTo>
                  <a:lnTo>
                    <a:pt x="1690" y="2380"/>
                  </a:lnTo>
                  <a:lnTo>
                    <a:pt x="1664" y="2449"/>
                  </a:lnTo>
                  <a:lnTo>
                    <a:pt x="1633" y="2515"/>
                  </a:lnTo>
                  <a:lnTo>
                    <a:pt x="1595" y="2578"/>
                  </a:lnTo>
                  <a:lnTo>
                    <a:pt x="1551" y="2635"/>
                  </a:lnTo>
                  <a:lnTo>
                    <a:pt x="1503" y="2689"/>
                  </a:lnTo>
                  <a:lnTo>
                    <a:pt x="1449" y="2737"/>
                  </a:lnTo>
                  <a:lnTo>
                    <a:pt x="1390" y="2780"/>
                  </a:lnTo>
                  <a:lnTo>
                    <a:pt x="1329" y="2818"/>
                  </a:lnTo>
                  <a:lnTo>
                    <a:pt x="1262" y="2850"/>
                  </a:lnTo>
                  <a:lnTo>
                    <a:pt x="1194" y="2876"/>
                  </a:lnTo>
                  <a:lnTo>
                    <a:pt x="1121" y="2894"/>
                  </a:lnTo>
                  <a:lnTo>
                    <a:pt x="1046" y="2906"/>
                  </a:lnTo>
                  <a:lnTo>
                    <a:pt x="969" y="2910"/>
                  </a:lnTo>
                  <a:lnTo>
                    <a:pt x="893" y="2906"/>
                  </a:lnTo>
                  <a:lnTo>
                    <a:pt x="817" y="2894"/>
                  </a:lnTo>
                  <a:lnTo>
                    <a:pt x="745" y="2876"/>
                  </a:lnTo>
                  <a:lnTo>
                    <a:pt x="676" y="2850"/>
                  </a:lnTo>
                  <a:lnTo>
                    <a:pt x="610" y="2818"/>
                  </a:lnTo>
                  <a:lnTo>
                    <a:pt x="548" y="2780"/>
                  </a:lnTo>
                  <a:lnTo>
                    <a:pt x="490" y="2737"/>
                  </a:lnTo>
                  <a:lnTo>
                    <a:pt x="436" y="2689"/>
                  </a:lnTo>
                  <a:lnTo>
                    <a:pt x="388" y="2635"/>
                  </a:lnTo>
                  <a:lnTo>
                    <a:pt x="345" y="2578"/>
                  </a:lnTo>
                  <a:lnTo>
                    <a:pt x="307" y="2515"/>
                  </a:lnTo>
                  <a:lnTo>
                    <a:pt x="275" y="2449"/>
                  </a:lnTo>
                  <a:lnTo>
                    <a:pt x="249" y="2380"/>
                  </a:lnTo>
                  <a:lnTo>
                    <a:pt x="231" y="2308"/>
                  </a:lnTo>
                  <a:lnTo>
                    <a:pt x="219" y="2232"/>
                  </a:lnTo>
                  <a:lnTo>
                    <a:pt x="215" y="2155"/>
                  </a:lnTo>
                  <a:lnTo>
                    <a:pt x="215" y="97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529DB2"/>
                </a:solidFill>
                <a:effectLst/>
                <a:uLnTx/>
                <a:uFillTx/>
                <a:latin typeface="方正宋刻本秀楷简体" panose="02000000000000000000" pitchFamily="2" charset="-122"/>
                <a:ea typeface="方正宋刻本秀楷简体" panose="02000000000000000000" pitchFamily="2" charset="-122"/>
                <a:cs typeface="+mn-cs"/>
              </a:endParaRPr>
            </a:p>
          </p:txBody>
        </p:sp>
      </p:grpSp>
      <p:sp>
        <p:nvSpPr>
          <p:cNvPr id="88" name="矩形 87"/>
          <p:cNvSpPr/>
          <p:nvPr/>
        </p:nvSpPr>
        <p:spPr>
          <a:xfrm>
            <a:off x="5721607" y="5059893"/>
            <a:ext cx="138049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300" normalizeH="0" baseline="0" noProof="0" dirty="0">
                <a:ln>
                  <a:noFill/>
                </a:ln>
                <a:solidFill>
                  <a:srgbClr val="529DB2"/>
                </a:solidFill>
                <a:effectLst/>
                <a:uLnTx/>
                <a:uFillTx/>
                <a:latin typeface="方正宋刻本秀楷简体" panose="02000000000000000000" pitchFamily="2" charset="-122"/>
                <a:ea typeface="方正宋刻本秀楷简体" panose="02000000000000000000" pitchFamily="2" charset="-122"/>
                <a:cs typeface="+mn-cs"/>
              </a:rPr>
              <a:t>浙江大学</a:t>
            </a:r>
          </a:p>
        </p:txBody>
      </p:sp>
      <p:grpSp>
        <p:nvGrpSpPr>
          <p:cNvPr id="87" name="组合 86">
            <a:extLst>
              <a:ext uri="{FF2B5EF4-FFF2-40B4-BE49-F238E27FC236}">
                <a16:creationId xmlns:a16="http://schemas.microsoft.com/office/drawing/2014/main" id="{8F1FB810-D2B7-4BCD-B6A9-8226C3B2727C}"/>
              </a:ext>
            </a:extLst>
          </p:cNvPr>
          <p:cNvGrpSpPr/>
          <p:nvPr/>
        </p:nvGrpSpPr>
        <p:grpSpPr>
          <a:xfrm>
            <a:off x="9701561" y="112109"/>
            <a:ext cx="2297151" cy="791140"/>
            <a:chOff x="3302807" y="1034911"/>
            <a:chExt cx="2457878" cy="799669"/>
          </a:xfrm>
          <a:solidFill>
            <a:srgbClr val="529DB2"/>
          </a:solidFill>
        </p:grpSpPr>
        <p:sp>
          <p:nvSpPr>
            <p:cNvPr id="89" name="íṡḷîḍê">
              <a:extLst>
                <a:ext uri="{FF2B5EF4-FFF2-40B4-BE49-F238E27FC236}">
                  <a16:creationId xmlns:a16="http://schemas.microsoft.com/office/drawing/2014/main" id="{235B52EB-A4BF-40AE-AD39-41A43F288F39}"/>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0" name="íŝḻiḍè">
              <a:extLst>
                <a:ext uri="{FF2B5EF4-FFF2-40B4-BE49-F238E27FC236}">
                  <a16:creationId xmlns:a16="http://schemas.microsoft.com/office/drawing/2014/main" id="{D1FF5793-8F5F-4127-B58D-F1891CCF152A}"/>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1" name="îS1iďê">
              <a:extLst>
                <a:ext uri="{FF2B5EF4-FFF2-40B4-BE49-F238E27FC236}">
                  <a16:creationId xmlns:a16="http://schemas.microsoft.com/office/drawing/2014/main" id="{8F23DEAD-B0D4-4F64-B3A9-7B99D99DEB16}"/>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2" name="i$ḷíḓe">
              <a:extLst>
                <a:ext uri="{FF2B5EF4-FFF2-40B4-BE49-F238E27FC236}">
                  <a16:creationId xmlns:a16="http://schemas.microsoft.com/office/drawing/2014/main" id="{4C86FCC0-DA2F-4596-8306-2F301C318D43}"/>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3" name="îş1íḍé">
              <a:extLst>
                <a:ext uri="{FF2B5EF4-FFF2-40B4-BE49-F238E27FC236}">
                  <a16:creationId xmlns:a16="http://schemas.microsoft.com/office/drawing/2014/main" id="{4316FE84-AB08-4FA7-8959-03DBEF72EA70}"/>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4" name="išḻïde">
              <a:extLst>
                <a:ext uri="{FF2B5EF4-FFF2-40B4-BE49-F238E27FC236}">
                  <a16:creationId xmlns:a16="http://schemas.microsoft.com/office/drawing/2014/main" id="{3DAB5BD7-818B-4A58-88CC-03B90E18F6DC}"/>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5" name="ís1ïḓè">
              <a:extLst>
                <a:ext uri="{FF2B5EF4-FFF2-40B4-BE49-F238E27FC236}">
                  <a16:creationId xmlns:a16="http://schemas.microsoft.com/office/drawing/2014/main" id="{D5DC2AE6-EEB0-4F3D-9446-FF906C06631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6" name="ïṩlïďê">
              <a:extLst>
                <a:ext uri="{FF2B5EF4-FFF2-40B4-BE49-F238E27FC236}">
                  <a16:creationId xmlns:a16="http://schemas.microsoft.com/office/drawing/2014/main" id="{506D0D16-812E-4E40-9F33-1153A19DF44C}"/>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7" name="íSliḋê">
              <a:extLst>
                <a:ext uri="{FF2B5EF4-FFF2-40B4-BE49-F238E27FC236}">
                  <a16:creationId xmlns:a16="http://schemas.microsoft.com/office/drawing/2014/main" id="{D8FB8D8F-929D-4F3B-9A23-B791C897DCE3}"/>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8" name="ísļîdè">
              <a:extLst>
                <a:ext uri="{FF2B5EF4-FFF2-40B4-BE49-F238E27FC236}">
                  <a16:creationId xmlns:a16="http://schemas.microsoft.com/office/drawing/2014/main" id="{ED94A64D-1703-4019-B34D-BB8A6AD9BF11}"/>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99" name="îSlíḋé">
              <a:extLst>
                <a:ext uri="{FF2B5EF4-FFF2-40B4-BE49-F238E27FC236}">
                  <a16:creationId xmlns:a16="http://schemas.microsoft.com/office/drawing/2014/main" id="{D9DEEAF5-2B2C-45DB-BC63-979E71505AEC}"/>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0" name="íŝ1ïḓê">
              <a:extLst>
                <a:ext uri="{FF2B5EF4-FFF2-40B4-BE49-F238E27FC236}">
                  <a16:creationId xmlns:a16="http://schemas.microsoft.com/office/drawing/2014/main" id="{AE47D93B-9812-4322-A7C0-41A4288E313A}"/>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1" name="ï$ľíḑè">
              <a:extLst>
                <a:ext uri="{FF2B5EF4-FFF2-40B4-BE49-F238E27FC236}">
                  <a16:creationId xmlns:a16="http://schemas.microsoft.com/office/drawing/2014/main" id="{2A74DC29-F2E0-4B37-B0BF-C07FA8895432}"/>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2" name="ïṧ1íḓè">
              <a:extLst>
                <a:ext uri="{FF2B5EF4-FFF2-40B4-BE49-F238E27FC236}">
                  <a16:creationId xmlns:a16="http://schemas.microsoft.com/office/drawing/2014/main" id="{EFE8403A-5AFF-48AF-AA1E-753B5AFC2D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3" name="işļïḑê">
              <a:extLst>
                <a:ext uri="{FF2B5EF4-FFF2-40B4-BE49-F238E27FC236}">
                  <a16:creationId xmlns:a16="http://schemas.microsoft.com/office/drawing/2014/main" id="{EA1BF746-E631-4896-8122-5D7A7C0D94B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4" name="îŝ1îdé">
              <a:extLst>
                <a:ext uri="{FF2B5EF4-FFF2-40B4-BE49-F238E27FC236}">
                  <a16:creationId xmlns:a16="http://schemas.microsoft.com/office/drawing/2014/main" id="{B87A7246-D12A-4BEF-B8DC-3A147059EB01}"/>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5" name="iṩlîḍe">
              <a:extLst>
                <a:ext uri="{FF2B5EF4-FFF2-40B4-BE49-F238E27FC236}">
                  <a16:creationId xmlns:a16="http://schemas.microsoft.com/office/drawing/2014/main" id="{471D03CC-5F67-4FD0-8E1A-6C66215B5877}"/>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6" name="ïṣlíḋe">
              <a:extLst>
                <a:ext uri="{FF2B5EF4-FFF2-40B4-BE49-F238E27FC236}">
                  <a16:creationId xmlns:a16="http://schemas.microsoft.com/office/drawing/2014/main" id="{4AFA72B8-4997-4B9A-B8FC-15D665E70E27}"/>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7" name="ísļiďè">
              <a:extLst>
                <a:ext uri="{FF2B5EF4-FFF2-40B4-BE49-F238E27FC236}">
                  <a16:creationId xmlns:a16="http://schemas.microsoft.com/office/drawing/2014/main" id="{BCDD635E-C18B-43F7-B98E-AB9250D0956F}"/>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8" name="íṡlïde">
              <a:extLst>
                <a:ext uri="{FF2B5EF4-FFF2-40B4-BE49-F238E27FC236}">
                  <a16:creationId xmlns:a16="http://schemas.microsoft.com/office/drawing/2014/main" id="{AC9B5378-6163-4E7A-A4AC-51B3AB545AB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09" name="iṩlide">
              <a:extLst>
                <a:ext uri="{FF2B5EF4-FFF2-40B4-BE49-F238E27FC236}">
                  <a16:creationId xmlns:a16="http://schemas.microsoft.com/office/drawing/2014/main" id="{7FD6D07D-CB6B-4DCE-BE3B-FFDE56BD318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0" name="îs1ïde">
              <a:extLst>
                <a:ext uri="{FF2B5EF4-FFF2-40B4-BE49-F238E27FC236}">
                  <a16:creationId xmlns:a16="http://schemas.microsoft.com/office/drawing/2014/main" id="{01CEE499-1645-46B0-AE3B-4400F8CD96E6}"/>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1" name="i$ľïḑe">
              <a:extLst>
                <a:ext uri="{FF2B5EF4-FFF2-40B4-BE49-F238E27FC236}">
                  <a16:creationId xmlns:a16="http://schemas.microsoft.com/office/drawing/2014/main" id="{640C1303-34A0-4819-AC29-3A933C3AF2F2}"/>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2" name="iŝļíḍè">
              <a:extLst>
                <a:ext uri="{FF2B5EF4-FFF2-40B4-BE49-F238E27FC236}">
                  <a16:creationId xmlns:a16="http://schemas.microsoft.com/office/drawing/2014/main" id="{C9290C1C-9CDB-442E-89C5-015B5E58FDA4}"/>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3" name="íṩḻîḋê">
              <a:extLst>
                <a:ext uri="{FF2B5EF4-FFF2-40B4-BE49-F238E27FC236}">
                  <a16:creationId xmlns:a16="http://schemas.microsoft.com/office/drawing/2014/main" id="{4554CE5D-6BEB-4BA2-BC12-AF97EB3DC785}"/>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4" name="íṡľiḑê">
              <a:extLst>
                <a:ext uri="{FF2B5EF4-FFF2-40B4-BE49-F238E27FC236}">
                  <a16:creationId xmlns:a16="http://schemas.microsoft.com/office/drawing/2014/main" id="{0F420BA9-B1FD-4899-9C55-46DA037CC4CC}"/>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5" name="iṥļiḓe">
              <a:extLst>
                <a:ext uri="{FF2B5EF4-FFF2-40B4-BE49-F238E27FC236}">
                  <a16:creationId xmlns:a16="http://schemas.microsoft.com/office/drawing/2014/main" id="{97BB46FA-2A28-4BF1-93FE-0F3393941B2F}"/>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6" name="iŝ1îḋé">
              <a:extLst>
                <a:ext uri="{FF2B5EF4-FFF2-40B4-BE49-F238E27FC236}">
                  <a16:creationId xmlns:a16="http://schemas.microsoft.com/office/drawing/2014/main" id="{088D5F91-4F8E-4156-8A50-F39BEF980AC3}"/>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7" name="iṩḷiḓè">
              <a:extLst>
                <a:ext uri="{FF2B5EF4-FFF2-40B4-BE49-F238E27FC236}">
                  <a16:creationId xmlns:a16="http://schemas.microsoft.com/office/drawing/2014/main" id="{C58F761C-3DDD-48E1-B6B3-811CD8C19FF8}"/>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8" name="îṥ1ïďé">
              <a:extLst>
                <a:ext uri="{FF2B5EF4-FFF2-40B4-BE49-F238E27FC236}">
                  <a16:creationId xmlns:a16="http://schemas.microsoft.com/office/drawing/2014/main" id="{657BD4C6-4A57-4482-900C-679DA3F1E5BE}"/>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19" name="iSḷiḍé">
              <a:extLst>
                <a:ext uri="{FF2B5EF4-FFF2-40B4-BE49-F238E27FC236}">
                  <a16:creationId xmlns:a16="http://schemas.microsoft.com/office/drawing/2014/main" id="{F5203303-140E-4243-9950-EECD9F13DFA6}"/>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0" name="îşļíďê">
              <a:extLst>
                <a:ext uri="{FF2B5EF4-FFF2-40B4-BE49-F238E27FC236}">
                  <a16:creationId xmlns:a16="http://schemas.microsoft.com/office/drawing/2014/main" id="{E0A83CD3-EAB3-46EE-96B7-35FF3AC791E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1" name="îš1íḍê">
              <a:extLst>
                <a:ext uri="{FF2B5EF4-FFF2-40B4-BE49-F238E27FC236}">
                  <a16:creationId xmlns:a16="http://schemas.microsoft.com/office/drawing/2014/main" id="{7D41BAE5-84BE-4882-82FE-CC4DC2874B93}"/>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2" name="íŝliḓê">
              <a:extLst>
                <a:ext uri="{FF2B5EF4-FFF2-40B4-BE49-F238E27FC236}">
                  <a16:creationId xmlns:a16="http://schemas.microsoft.com/office/drawing/2014/main" id="{E9EA77C2-C12F-4F0C-9CEF-891460B68121}"/>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3" name="iṡļiḍe">
              <a:extLst>
                <a:ext uri="{FF2B5EF4-FFF2-40B4-BE49-F238E27FC236}">
                  <a16:creationId xmlns:a16="http://schemas.microsoft.com/office/drawing/2014/main" id="{16D447E9-DAA6-451E-A6DF-2C35B7DCB32D}"/>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4" name="ï$ļïdé">
              <a:extLst>
                <a:ext uri="{FF2B5EF4-FFF2-40B4-BE49-F238E27FC236}">
                  <a16:creationId xmlns:a16="http://schemas.microsoft.com/office/drawing/2014/main" id="{A77DB371-9C58-4F04-936C-4A217CBCE461}"/>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5" name="íšlíḓe">
              <a:extLst>
                <a:ext uri="{FF2B5EF4-FFF2-40B4-BE49-F238E27FC236}">
                  <a16:creationId xmlns:a16="http://schemas.microsoft.com/office/drawing/2014/main" id="{12994197-1150-4E53-B63F-5A1417CF5207}"/>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6" name="ïṣļïḍê">
              <a:extLst>
                <a:ext uri="{FF2B5EF4-FFF2-40B4-BE49-F238E27FC236}">
                  <a16:creationId xmlns:a16="http://schemas.microsoft.com/office/drawing/2014/main" id="{53C9D50C-9563-4DFE-928F-337CCA3E3FA8}"/>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7" name="ís1íḍe">
              <a:extLst>
                <a:ext uri="{FF2B5EF4-FFF2-40B4-BE49-F238E27FC236}">
                  <a16:creationId xmlns:a16="http://schemas.microsoft.com/office/drawing/2014/main" id="{006C3EA6-DB7C-4911-B8CA-D4D8FB373DCA}"/>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8" name="íşlïḋe">
              <a:extLst>
                <a:ext uri="{FF2B5EF4-FFF2-40B4-BE49-F238E27FC236}">
                  <a16:creationId xmlns:a16="http://schemas.microsoft.com/office/drawing/2014/main" id="{B71F64C2-C907-415C-8B3E-701AF57A0D3C}"/>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29" name="iŝļîḍé">
              <a:extLst>
                <a:ext uri="{FF2B5EF4-FFF2-40B4-BE49-F238E27FC236}">
                  <a16:creationId xmlns:a16="http://schemas.microsoft.com/office/drawing/2014/main" id="{99291952-FAC1-4E35-B912-7E94F2FFCFA2}"/>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0" name="íṧḷídé">
              <a:extLst>
                <a:ext uri="{FF2B5EF4-FFF2-40B4-BE49-F238E27FC236}">
                  <a16:creationId xmlns:a16="http://schemas.microsoft.com/office/drawing/2014/main" id="{A0C9E242-3288-4C41-A815-58CB8191CAB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1" name="îSḻiḋe">
              <a:extLst>
                <a:ext uri="{FF2B5EF4-FFF2-40B4-BE49-F238E27FC236}">
                  <a16:creationId xmlns:a16="http://schemas.microsoft.com/office/drawing/2014/main" id="{BB86C850-4609-4B4C-9C81-781728AA5D2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2" name="í$ḻîḓè">
              <a:extLst>
                <a:ext uri="{FF2B5EF4-FFF2-40B4-BE49-F238E27FC236}">
                  <a16:creationId xmlns:a16="http://schemas.microsoft.com/office/drawing/2014/main" id="{099C0F1A-1562-439C-9319-F8D872B7E80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3" name="ïŝḷíḍe">
              <a:extLst>
                <a:ext uri="{FF2B5EF4-FFF2-40B4-BE49-F238E27FC236}">
                  <a16:creationId xmlns:a16="http://schemas.microsoft.com/office/drawing/2014/main" id="{CBA5145A-725B-4645-86B8-96C66CAFAD6E}"/>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4" name="íṩļiḋe">
              <a:extLst>
                <a:ext uri="{FF2B5EF4-FFF2-40B4-BE49-F238E27FC236}">
                  <a16:creationId xmlns:a16="http://schemas.microsoft.com/office/drawing/2014/main" id="{03142A28-DDF3-4540-90CC-BD3A6734B4DF}"/>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5" name="îṡlïḍé">
              <a:extLst>
                <a:ext uri="{FF2B5EF4-FFF2-40B4-BE49-F238E27FC236}">
                  <a16:creationId xmlns:a16="http://schemas.microsoft.com/office/drawing/2014/main" id="{35F51E0A-0D0B-49C9-ABE4-195D1F26640D}"/>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6" name="iS1îḓè">
              <a:extLst>
                <a:ext uri="{FF2B5EF4-FFF2-40B4-BE49-F238E27FC236}">
                  <a16:creationId xmlns:a16="http://schemas.microsoft.com/office/drawing/2014/main" id="{6085FC01-B57B-48F0-ACEA-A4E302DD411B}"/>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7" name="íṡḷiḑê">
              <a:extLst>
                <a:ext uri="{FF2B5EF4-FFF2-40B4-BE49-F238E27FC236}">
                  <a16:creationId xmlns:a16="http://schemas.microsoft.com/office/drawing/2014/main" id="{FD62009E-F7BC-4356-85BE-30015320219A}"/>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8" name="iṩ1íḓê">
              <a:extLst>
                <a:ext uri="{FF2B5EF4-FFF2-40B4-BE49-F238E27FC236}">
                  <a16:creationId xmlns:a16="http://schemas.microsoft.com/office/drawing/2014/main" id="{1A3C0A16-88B8-4369-87DF-DB5056AA30BA}"/>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39" name="ïşľïďé">
              <a:extLst>
                <a:ext uri="{FF2B5EF4-FFF2-40B4-BE49-F238E27FC236}">
                  <a16:creationId xmlns:a16="http://schemas.microsoft.com/office/drawing/2014/main" id="{0F56BE5E-4AB7-413D-AE7B-217602C8DFF1}"/>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0" name="ïśḷïḍê">
              <a:extLst>
                <a:ext uri="{FF2B5EF4-FFF2-40B4-BE49-F238E27FC236}">
                  <a16:creationId xmlns:a16="http://schemas.microsoft.com/office/drawing/2014/main" id="{5CC0C2AD-762F-471A-AA0E-E25C49C7FCBC}"/>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1" name="ïṡḷíḑé">
              <a:extLst>
                <a:ext uri="{FF2B5EF4-FFF2-40B4-BE49-F238E27FC236}">
                  <a16:creationId xmlns:a16="http://schemas.microsoft.com/office/drawing/2014/main" id="{495F1C58-6266-4069-B7ED-CC4088C1B35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2" name="iśḻíde">
              <a:extLst>
                <a:ext uri="{FF2B5EF4-FFF2-40B4-BE49-F238E27FC236}">
                  <a16:creationId xmlns:a16="http://schemas.microsoft.com/office/drawing/2014/main" id="{FFD9819C-3D73-4A33-AF2B-A62B034D3D84}"/>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3" name="í$ḻîdê">
              <a:extLst>
                <a:ext uri="{FF2B5EF4-FFF2-40B4-BE49-F238E27FC236}">
                  <a16:creationId xmlns:a16="http://schemas.microsoft.com/office/drawing/2014/main" id="{90BB4B27-32EC-4F84-BF45-AD0F7849B2FA}"/>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4" name="iṩḷídé">
              <a:extLst>
                <a:ext uri="{FF2B5EF4-FFF2-40B4-BE49-F238E27FC236}">
                  <a16:creationId xmlns:a16="http://schemas.microsoft.com/office/drawing/2014/main" id="{F46999F2-BE40-4290-9556-3BCD18778BAF}"/>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5" name="iślíḓè">
              <a:extLst>
                <a:ext uri="{FF2B5EF4-FFF2-40B4-BE49-F238E27FC236}">
                  <a16:creationId xmlns:a16="http://schemas.microsoft.com/office/drawing/2014/main" id="{51375A1D-BD02-455B-A068-252E9E5CCA9F}"/>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6" name="îṥ1ïḋe">
              <a:extLst>
                <a:ext uri="{FF2B5EF4-FFF2-40B4-BE49-F238E27FC236}">
                  <a16:creationId xmlns:a16="http://schemas.microsoft.com/office/drawing/2014/main" id="{3D3334AB-0237-470B-8A5F-FC37DEE8190E}"/>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7" name="iṧḷídè">
              <a:extLst>
                <a:ext uri="{FF2B5EF4-FFF2-40B4-BE49-F238E27FC236}">
                  <a16:creationId xmlns:a16="http://schemas.microsoft.com/office/drawing/2014/main" id="{EFD58767-74CF-48E1-8118-AA0983FB1872}"/>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8" name="ïṩḷíḍé">
              <a:extLst>
                <a:ext uri="{FF2B5EF4-FFF2-40B4-BE49-F238E27FC236}">
                  <a16:creationId xmlns:a16="http://schemas.microsoft.com/office/drawing/2014/main" id="{367ED961-81F1-41F6-98DA-6EC405AAAA2D}"/>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49" name="ï$liḓê">
              <a:extLst>
                <a:ext uri="{FF2B5EF4-FFF2-40B4-BE49-F238E27FC236}">
                  <a16:creationId xmlns:a16="http://schemas.microsoft.com/office/drawing/2014/main" id="{4EBFF56B-704F-4D8A-B827-CC4BB9FF48BB}"/>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0" name="iṩlidè">
              <a:extLst>
                <a:ext uri="{FF2B5EF4-FFF2-40B4-BE49-F238E27FC236}">
                  <a16:creationId xmlns:a16="http://schemas.microsoft.com/office/drawing/2014/main" id="{71C93B60-430E-441C-A85C-A750AD20DE5E}"/>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1" name="íṧļîḓé">
              <a:extLst>
                <a:ext uri="{FF2B5EF4-FFF2-40B4-BE49-F238E27FC236}">
                  <a16:creationId xmlns:a16="http://schemas.microsoft.com/office/drawing/2014/main" id="{21149943-8AA6-4941-B9B3-2BD7A108D894}"/>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2" name="iṩḻîḑè">
              <a:extLst>
                <a:ext uri="{FF2B5EF4-FFF2-40B4-BE49-F238E27FC236}">
                  <a16:creationId xmlns:a16="http://schemas.microsoft.com/office/drawing/2014/main" id="{D984360C-1E04-4C6D-90D8-D773DE724FCA}"/>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3" name="ïṣľíḑé">
              <a:extLst>
                <a:ext uri="{FF2B5EF4-FFF2-40B4-BE49-F238E27FC236}">
                  <a16:creationId xmlns:a16="http://schemas.microsoft.com/office/drawing/2014/main" id="{38C57E7B-1F51-4BAD-B964-A8C31942D998}"/>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4" name="îşḻîḑè">
              <a:extLst>
                <a:ext uri="{FF2B5EF4-FFF2-40B4-BE49-F238E27FC236}">
                  <a16:creationId xmlns:a16="http://schemas.microsoft.com/office/drawing/2014/main" id="{85A160E3-2123-42D6-94E9-325A5929979F}"/>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5" name="iṣḷiḓê">
              <a:extLst>
                <a:ext uri="{FF2B5EF4-FFF2-40B4-BE49-F238E27FC236}">
                  <a16:creationId xmlns:a16="http://schemas.microsoft.com/office/drawing/2014/main" id="{05282714-35BE-477D-98B7-2D637A05B84A}"/>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sp>
          <p:nvSpPr>
            <p:cNvPr id="156" name="işļídè">
              <a:extLst>
                <a:ext uri="{FF2B5EF4-FFF2-40B4-BE49-F238E27FC236}">
                  <a16:creationId xmlns:a16="http://schemas.microsoft.com/office/drawing/2014/main" id="{50001431-1104-4C59-95DE-C9798F537E99}"/>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highlight>
                  <a:srgbClr val="FFFFFF"/>
                </a:highlight>
                <a:uLnTx/>
                <a:uFillTx/>
                <a:latin typeface="Calibri Light"/>
                <a:ea typeface="微软雅黑 Light"/>
                <a:cs typeface="+mn-cs"/>
              </a:endParaRPr>
            </a:p>
          </p:txBody>
        </p:sp>
      </p:grpSp>
      <p:sp>
        <p:nvSpPr>
          <p:cNvPr id="2" name="灯片编号占位符 1">
            <a:extLst>
              <a:ext uri="{FF2B5EF4-FFF2-40B4-BE49-F238E27FC236}">
                <a16:creationId xmlns:a16="http://schemas.microsoft.com/office/drawing/2014/main" id="{05DC128F-67FA-4DD4-9029-6ADDA6605D9D}"/>
              </a:ext>
            </a:extLst>
          </p:cNvPr>
          <p:cNvSpPr>
            <a:spLocks noGrp="1"/>
          </p:cNvSpPr>
          <p:nvPr>
            <p:ph type="sldNum" sz="quarter" idx="12"/>
          </p:nvPr>
        </p:nvSpPr>
        <p:spPr/>
        <p:txBody>
          <a:bodyPr/>
          <a:lstStyle/>
          <a:p>
            <a:fld id="{CA71748E-C824-44A4-80B9-F8DE6AD98080}" type="slidenum">
              <a:rPr lang="zh-CN" altLang="en-US" smtClean="0"/>
              <a:pPr/>
              <a:t>1</a:t>
            </a:fld>
            <a:endParaRPr lang="zh-CN" altLang="en-US" dirty="0"/>
          </a:p>
        </p:txBody>
      </p:sp>
      <p:sp>
        <p:nvSpPr>
          <p:cNvPr id="157" name="文本框 156">
            <a:extLst>
              <a:ext uri="{FF2B5EF4-FFF2-40B4-BE49-F238E27FC236}">
                <a16:creationId xmlns:a16="http://schemas.microsoft.com/office/drawing/2014/main" id="{4C4E4097-1852-4836-B3C9-E17EA5AEACF5}"/>
              </a:ext>
            </a:extLst>
          </p:cNvPr>
          <p:cNvSpPr txBox="1"/>
          <p:nvPr/>
        </p:nvSpPr>
        <p:spPr>
          <a:xfrm>
            <a:off x="252843" y="2913507"/>
            <a:ext cx="11571531" cy="830997"/>
          </a:xfrm>
          <a:prstGeom prst="rect">
            <a:avLst/>
          </a:prstGeom>
          <a:noFill/>
        </p:spPr>
        <p:txBody>
          <a:bodyPr wrap="square">
            <a:spAutoFit/>
          </a:bodyPr>
          <a:lstStyle/>
          <a:p>
            <a:pPr algn="ctr">
              <a:defRPr/>
            </a:pPr>
            <a:r>
              <a:rPr lang="zh-CN" altLang="en-US" sz="4800" b="1" spc="300" dirty="0">
                <a:solidFill>
                  <a:srgbClr val="529DB2"/>
                </a:solidFill>
                <a:latin typeface="微软雅黑" panose="020B0503020204020204" pitchFamily="34" charset="-122"/>
                <a:ea typeface="微软雅黑" panose="020B0503020204020204" pitchFamily="34" charset="-122"/>
                <a:cs typeface="Arial" panose="020B0604020202020204" pitchFamily="34" charset="0"/>
              </a:rPr>
              <a:t>基于深度学习的蛋白隐式口袋发现</a:t>
            </a:r>
            <a:endParaRPr lang="zh-CN" altLang="zh-CN" sz="4800" b="1" spc="300" dirty="0">
              <a:solidFill>
                <a:srgbClr val="529DB2"/>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770694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B41F271-A74D-4357-A142-7E403BD7998B}"/>
              </a:ext>
            </a:extLst>
          </p:cNvPr>
          <p:cNvSpPr>
            <a:spLocks noGrp="1"/>
          </p:cNvSpPr>
          <p:nvPr>
            <p:ph type="sldNum" sz="quarter" idx="12"/>
          </p:nvPr>
        </p:nvSpPr>
        <p:spPr/>
        <p:txBody>
          <a:bodyPr/>
          <a:lstStyle/>
          <a:p>
            <a:fld id="{CA71748E-C824-44A4-80B9-F8DE6AD98080}" type="slidenum">
              <a:rPr lang="zh-CN" altLang="en-US" smtClean="0"/>
              <a:pPr/>
              <a:t>2</a:t>
            </a:fld>
            <a:endParaRPr lang="zh-CN" altLang="en-US" dirty="0"/>
          </a:p>
        </p:txBody>
      </p:sp>
      <p:grpSp>
        <p:nvGrpSpPr>
          <p:cNvPr id="3" name="组合 2">
            <a:extLst>
              <a:ext uri="{FF2B5EF4-FFF2-40B4-BE49-F238E27FC236}">
                <a16:creationId xmlns:a16="http://schemas.microsoft.com/office/drawing/2014/main" id="{9E925BDD-DDF7-4E6C-83A5-F19F5A38DB55}"/>
              </a:ext>
            </a:extLst>
          </p:cNvPr>
          <p:cNvGrpSpPr/>
          <p:nvPr/>
        </p:nvGrpSpPr>
        <p:grpSpPr>
          <a:xfrm>
            <a:off x="10355228" y="40072"/>
            <a:ext cx="1725943" cy="563993"/>
            <a:chOff x="3302807" y="1034911"/>
            <a:chExt cx="2457878" cy="799669"/>
          </a:xfrm>
          <a:solidFill>
            <a:schemeClr val="bg1"/>
          </a:solidFill>
        </p:grpSpPr>
        <p:sp>
          <p:nvSpPr>
            <p:cNvPr id="4" name="íṡḷîḍê">
              <a:extLst>
                <a:ext uri="{FF2B5EF4-FFF2-40B4-BE49-F238E27FC236}">
                  <a16:creationId xmlns:a16="http://schemas.microsoft.com/office/drawing/2014/main" id="{B7DAB3D5-1E9D-497A-82FA-174CF2DA1B22}"/>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 name="íŝḻiḍè">
              <a:extLst>
                <a:ext uri="{FF2B5EF4-FFF2-40B4-BE49-F238E27FC236}">
                  <a16:creationId xmlns:a16="http://schemas.microsoft.com/office/drawing/2014/main" id="{3CD59F79-CA87-4AFC-91CD-6DC9AD869AB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 name="îS1iďê">
              <a:extLst>
                <a:ext uri="{FF2B5EF4-FFF2-40B4-BE49-F238E27FC236}">
                  <a16:creationId xmlns:a16="http://schemas.microsoft.com/office/drawing/2014/main" id="{D9082833-9A8D-451C-9E9B-A75F7EC9CE9C}"/>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 name="i$ḷíḓe">
              <a:extLst>
                <a:ext uri="{FF2B5EF4-FFF2-40B4-BE49-F238E27FC236}">
                  <a16:creationId xmlns:a16="http://schemas.microsoft.com/office/drawing/2014/main" id="{C2542898-AB5D-4DF1-AAEB-02702076BAF4}"/>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8" name="îş1íḍé">
              <a:extLst>
                <a:ext uri="{FF2B5EF4-FFF2-40B4-BE49-F238E27FC236}">
                  <a16:creationId xmlns:a16="http://schemas.microsoft.com/office/drawing/2014/main" id="{91681F7B-A9A6-4D02-ABA0-ABA321DABC32}"/>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9" name="išḻïde">
              <a:extLst>
                <a:ext uri="{FF2B5EF4-FFF2-40B4-BE49-F238E27FC236}">
                  <a16:creationId xmlns:a16="http://schemas.microsoft.com/office/drawing/2014/main" id="{513533E5-8338-4BE4-B223-47882EF7B57F}"/>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0" name="ís1ïḓè">
              <a:extLst>
                <a:ext uri="{FF2B5EF4-FFF2-40B4-BE49-F238E27FC236}">
                  <a16:creationId xmlns:a16="http://schemas.microsoft.com/office/drawing/2014/main" id="{323083E9-F55E-416E-BB30-2636637171D1}"/>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1" name="ïṩlïďê">
              <a:extLst>
                <a:ext uri="{FF2B5EF4-FFF2-40B4-BE49-F238E27FC236}">
                  <a16:creationId xmlns:a16="http://schemas.microsoft.com/office/drawing/2014/main" id="{ABE5637E-6234-4CB9-9033-3733C5BE4217}"/>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2" name="íSliḋê">
              <a:extLst>
                <a:ext uri="{FF2B5EF4-FFF2-40B4-BE49-F238E27FC236}">
                  <a16:creationId xmlns:a16="http://schemas.microsoft.com/office/drawing/2014/main" id="{0D1C8DA9-A6DB-4D51-8500-D03374A57319}"/>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3" name="ísļîdè">
              <a:extLst>
                <a:ext uri="{FF2B5EF4-FFF2-40B4-BE49-F238E27FC236}">
                  <a16:creationId xmlns:a16="http://schemas.microsoft.com/office/drawing/2014/main" id="{7CCB3B3D-53E1-4017-82B5-CF5A4DD6A3E0}"/>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4" name="îSlíḋé">
              <a:extLst>
                <a:ext uri="{FF2B5EF4-FFF2-40B4-BE49-F238E27FC236}">
                  <a16:creationId xmlns:a16="http://schemas.microsoft.com/office/drawing/2014/main" id="{9640B468-4C4F-4527-94BA-3ECC0D5372C8}"/>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5" name="íŝ1ïḓê">
              <a:extLst>
                <a:ext uri="{FF2B5EF4-FFF2-40B4-BE49-F238E27FC236}">
                  <a16:creationId xmlns:a16="http://schemas.microsoft.com/office/drawing/2014/main" id="{F58668AD-D100-4F49-8DA3-41B80F92BDEB}"/>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6" name="ï$ľíḑè">
              <a:extLst>
                <a:ext uri="{FF2B5EF4-FFF2-40B4-BE49-F238E27FC236}">
                  <a16:creationId xmlns:a16="http://schemas.microsoft.com/office/drawing/2014/main" id="{8EE84E50-2307-4E87-BB9E-DECBD53EFF21}"/>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7" name="ïṧ1íḓè">
              <a:extLst>
                <a:ext uri="{FF2B5EF4-FFF2-40B4-BE49-F238E27FC236}">
                  <a16:creationId xmlns:a16="http://schemas.microsoft.com/office/drawing/2014/main" id="{54FE914B-3908-4F69-9331-FC960FC421AC}"/>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8" name="işļïḑê">
              <a:extLst>
                <a:ext uri="{FF2B5EF4-FFF2-40B4-BE49-F238E27FC236}">
                  <a16:creationId xmlns:a16="http://schemas.microsoft.com/office/drawing/2014/main" id="{8DEEFCB4-6139-4C4A-8E87-848236672B5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9" name="îŝ1îdé">
              <a:extLst>
                <a:ext uri="{FF2B5EF4-FFF2-40B4-BE49-F238E27FC236}">
                  <a16:creationId xmlns:a16="http://schemas.microsoft.com/office/drawing/2014/main" id="{92784CEC-2275-46F5-8A68-45B0AE589D81}"/>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0" name="iṩlîḍe">
              <a:extLst>
                <a:ext uri="{FF2B5EF4-FFF2-40B4-BE49-F238E27FC236}">
                  <a16:creationId xmlns:a16="http://schemas.microsoft.com/office/drawing/2014/main" id="{C8A26868-88A0-4507-A5D8-E138E3D9B4A8}"/>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1" name="ïṣlíḋe">
              <a:extLst>
                <a:ext uri="{FF2B5EF4-FFF2-40B4-BE49-F238E27FC236}">
                  <a16:creationId xmlns:a16="http://schemas.microsoft.com/office/drawing/2014/main" id="{0AF089DF-EF6B-4ADE-A326-19A7C439838B}"/>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2" name="ísļiďè">
              <a:extLst>
                <a:ext uri="{FF2B5EF4-FFF2-40B4-BE49-F238E27FC236}">
                  <a16:creationId xmlns:a16="http://schemas.microsoft.com/office/drawing/2014/main" id="{6E7E66AA-024D-4CBF-AD28-F3D7BBA1DC9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3" name="íṡlïde">
              <a:extLst>
                <a:ext uri="{FF2B5EF4-FFF2-40B4-BE49-F238E27FC236}">
                  <a16:creationId xmlns:a16="http://schemas.microsoft.com/office/drawing/2014/main" id="{58D526EB-CA35-4501-A071-BE8EE8401D9B}"/>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4" name="iṩlide">
              <a:extLst>
                <a:ext uri="{FF2B5EF4-FFF2-40B4-BE49-F238E27FC236}">
                  <a16:creationId xmlns:a16="http://schemas.microsoft.com/office/drawing/2014/main" id="{DAD20913-237F-4A14-8CED-12F9DB2C90C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5" name="îs1ïde">
              <a:extLst>
                <a:ext uri="{FF2B5EF4-FFF2-40B4-BE49-F238E27FC236}">
                  <a16:creationId xmlns:a16="http://schemas.microsoft.com/office/drawing/2014/main" id="{AF9D7022-ACC7-4272-B4B9-3205C319BF2C}"/>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6" name="i$ľïḑe">
              <a:extLst>
                <a:ext uri="{FF2B5EF4-FFF2-40B4-BE49-F238E27FC236}">
                  <a16:creationId xmlns:a16="http://schemas.microsoft.com/office/drawing/2014/main" id="{AC79B310-6ED8-4948-8FCB-12535517E453}"/>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7" name="iŝļíḍè">
              <a:extLst>
                <a:ext uri="{FF2B5EF4-FFF2-40B4-BE49-F238E27FC236}">
                  <a16:creationId xmlns:a16="http://schemas.microsoft.com/office/drawing/2014/main" id="{B49FD3D8-8A07-4672-8C50-DA8225DC1B6D}"/>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8" name="íṩḻîḋê">
              <a:extLst>
                <a:ext uri="{FF2B5EF4-FFF2-40B4-BE49-F238E27FC236}">
                  <a16:creationId xmlns:a16="http://schemas.microsoft.com/office/drawing/2014/main" id="{D64673D0-AE6B-4CA7-B808-1C4131186FEC}"/>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9" name="íṡľiḑê">
              <a:extLst>
                <a:ext uri="{FF2B5EF4-FFF2-40B4-BE49-F238E27FC236}">
                  <a16:creationId xmlns:a16="http://schemas.microsoft.com/office/drawing/2014/main" id="{177286FE-A4B8-4D0F-9322-BD39685A7D1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0" name="iṥļiḓe">
              <a:extLst>
                <a:ext uri="{FF2B5EF4-FFF2-40B4-BE49-F238E27FC236}">
                  <a16:creationId xmlns:a16="http://schemas.microsoft.com/office/drawing/2014/main" id="{198A164A-9A98-4B59-8AA7-143B9D8D8C5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1" name="iŝ1îḋé">
              <a:extLst>
                <a:ext uri="{FF2B5EF4-FFF2-40B4-BE49-F238E27FC236}">
                  <a16:creationId xmlns:a16="http://schemas.microsoft.com/office/drawing/2014/main" id="{26C0001B-30DE-4E60-954C-9BDAA20BBC4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2" name="iṩḷiḓè">
              <a:extLst>
                <a:ext uri="{FF2B5EF4-FFF2-40B4-BE49-F238E27FC236}">
                  <a16:creationId xmlns:a16="http://schemas.microsoft.com/office/drawing/2014/main" id="{E8C0F229-7C1A-415B-ADDA-3E0BC71EC006}"/>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3" name="îṥ1ïďé">
              <a:extLst>
                <a:ext uri="{FF2B5EF4-FFF2-40B4-BE49-F238E27FC236}">
                  <a16:creationId xmlns:a16="http://schemas.microsoft.com/office/drawing/2014/main" id="{962C5FFF-22F0-49E5-B883-A585E928C22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4" name="iSḷiḍé">
              <a:extLst>
                <a:ext uri="{FF2B5EF4-FFF2-40B4-BE49-F238E27FC236}">
                  <a16:creationId xmlns:a16="http://schemas.microsoft.com/office/drawing/2014/main" id="{532DA388-DA31-49F4-9D03-4CB631CB06F1}"/>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5" name="îşļíďê">
              <a:extLst>
                <a:ext uri="{FF2B5EF4-FFF2-40B4-BE49-F238E27FC236}">
                  <a16:creationId xmlns:a16="http://schemas.microsoft.com/office/drawing/2014/main" id="{F5472015-6FB1-4811-A13E-8298A61D318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6" name="îš1íḍê">
              <a:extLst>
                <a:ext uri="{FF2B5EF4-FFF2-40B4-BE49-F238E27FC236}">
                  <a16:creationId xmlns:a16="http://schemas.microsoft.com/office/drawing/2014/main" id="{9385DB0A-5A3C-4F15-9C2D-5E2ABB70F3E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7" name="íŝliḓê">
              <a:extLst>
                <a:ext uri="{FF2B5EF4-FFF2-40B4-BE49-F238E27FC236}">
                  <a16:creationId xmlns:a16="http://schemas.microsoft.com/office/drawing/2014/main" id="{FFB97CBD-70FA-457A-9F5F-F1069CE476EF}"/>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8" name="iṡļiḍe">
              <a:extLst>
                <a:ext uri="{FF2B5EF4-FFF2-40B4-BE49-F238E27FC236}">
                  <a16:creationId xmlns:a16="http://schemas.microsoft.com/office/drawing/2014/main" id="{A9C25906-236A-4EEF-A6C6-FC45C14A17E1}"/>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9" name="ï$ļïdé">
              <a:extLst>
                <a:ext uri="{FF2B5EF4-FFF2-40B4-BE49-F238E27FC236}">
                  <a16:creationId xmlns:a16="http://schemas.microsoft.com/office/drawing/2014/main" id="{D71BD8C1-7099-4D6D-AF5F-DF4971707CD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0" name="íšlíḓe">
              <a:extLst>
                <a:ext uri="{FF2B5EF4-FFF2-40B4-BE49-F238E27FC236}">
                  <a16:creationId xmlns:a16="http://schemas.microsoft.com/office/drawing/2014/main" id="{B3EE0E0C-7E27-4BF7-BCBC-F3271B42F25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1" name="ïṣļïḍê">
              <a:extLst>
                <a:ext uri="{FF2B5EF4-FFF2-40B4-BE49-F238E27FC236}">
                  <a16:creationId xmlns:a16="http://schemas.microsoft.com/office/drawing/2014/main" id="{E4534144-B554-4403-9A06-421DB972E96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2" name="ís1íḍe">
              <a:extLst>
                <a:ext uri="{FF2B5EF4-FFF2-40B4-BE49-F238E27FC236}">
                  <a16:creationId xmlns:a16="http://schemas.microsoft.com/office/drawing/2014/main" id="{1472B056-8AFF-4449-AA55-ECE25AACF595}"/>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3" name="íşlïḋe">
              <a:extLst>
                <a:ext uri="{FF2B5EF4-FFF2-40B4-BE49-F238E27FC236}">
                  <a16:creationId xmlns:a16="http://schemas.microsoft.com/office/drawing/2014/main" id="{7D8A04DB-C591-4E85-89D8-04A430C381E8}"/>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4" name="iŝļîḍé">
              <a:extLst>
                <a:ext uri="{FF2B5EF4-FFF2-40B4-BE49-F238E27FC236}">
                  <a16:creationId xmlns:a16="http://schemas.microsoft.com/office/drawing/2014/main" id="{2D8480CD-606A-4BA9-8EFF-19D2566CCD8D}"/>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5" name="íṧḷídé">
              <a:extLst>
                <a:ext uri="{FF2B5EF4-FFF2-40B4-BE49-F238E27FC236}">
                  <a16:creationId xmlns:a16="http://schemas.microsoft.com/office/drawing/2014/main" id="{E9C5F1D9-5889-4FF8-9CD5-F08238743ED8}"/>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6" name="îSḻiḋe">
              <a:extLst>
                <a:ext uri="{FF2B5EF4-FFF2-40B4-BE49-F238E27FC236}">
                  <a16:creationId xmlns:a16="http://schemas.microsoft.com/office/drawing/2014/main" id="{72355679-4F3A-46F4-A1D7-A4D95C62C24C}"/>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7" name="í$ḻîḓè">
              <a:extLst>
                <a:ext uri="{FF2B5EF4-FFF2-40B4-BE49-F238E27FC236}">
                  <a16:creationId xmlns:a16="http://schemas.microsoft.com/office/drawing/2014/main" id="{0D62BB02-4635-447A-B78F-48138FF0B952}"/>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8" name="ïŝḷíḍe">
              <a:extLst>
                <a:ext uri="{FF2B5EF4-FFF2-40B4-BE49-F238E27FC236}">
                  <a16:creationId xmlns:a16="http://schemas.microsoft.com/office/drawing/2014/main" id="{C6FC2748-B6CD-4438-B252-1F76FB6B970D}"/>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9" name="íṩļiḋe">
              <a:extLst>
                <a:ext uri="{FF2B5EF4-FFF2-40B4-BE49-F238E27FC236}">
                  <a16:creationId xmlns:a16="http://schemas.microsoft.com/office/drawing/2014/main" id="{87CB755A-C3F8-4096-837D-49EA5A9329B0}"/>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0" name="îṡlïḍé">
              <a:extLst>
                <a:ext uri="{FF2B5EF4-FFF2-40B4-BE49-F238E27FC236}">
                  <a16:creationId xmlns:a16="http://schemas.microsoft.com/office/drawing/2014/main" id="{E93EA309-2F07-4C3F-A2E3-C203B3C115D0}"/>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1" name="iS1îḓè">
              <a:extLst>
                <a:ext uri="{FF2B5EF4-FFF2-40B4-BE49-F238E27FC236}">
                  <a16:creationId xmlns:a16="http://schemas.microsoft.com/office/drawing/2014/main" id="{C7E65CBF-B551-4358-8D74-339CF7743DD3}"/>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2" name="íṡḷiḑê">
              <a:extLst>
                <a:ext uri="{FF2B5EF4-FFF2-40B4-BE49-F238E27FC236}">
                  <a16:creationId xmlns:a16="http://schemas.microsoft.com/office/drawing/2014/main" id="{442C646B-A087-4268-9509-6C65C73A8E84}"/>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3" name="iṩ1íḓê">
              <a:extLst>
                <a:ext uri="{FF2B5EF4-FFF2-40B4-BE49-F238E27FC236}">
                  <a16:creationId xmlns:a16="http://schemas.microsoft.com/office/drawing/2014/main" id="{8DBC8E60-18A3-4F47-9DD2-788A7F7CDF7B}"/>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4" name="ïşľïďé">
              <a:extLst>
                <a:ext uri="{FF2B5EF4-FFF2-40B4-BE49-F238E27FC236}">
                  <a16:creationId xmlns:a16="http://schemas.microsoft.com/office/drawing/2014/main" id="{D1AB07A3-CCA4-4A96-AF6D-B6CD8BF80565}"/>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5" name="ïśḷïḍê">
              <a:extLst>
                <a:ext uri="{FF2B5EF4-FFF2-40B4-BE49-F238E27FC236}">
                  <a16:creationId xmlns:a16="http://schemas.microsoft.com/office/drawing/2014/main" id="{9A895D17-0FF8-4F45-BE73-23265237206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6" name="ïṡḷíḑé">
              <a:extLst>
                <a:ext uri="{FF2B5EF4-FFF2-40B4-BE49-F238E27FC236}">
                  <a16:creationId xmlns:a16="http://schemas.microsoft.com/office/drawing/2014/main" id="{FA3BDB39-7CDC-483C-B75E-DACDEA812D0D}"/>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7" name="iśḻíde">
              <a:extLst>
                <a:ext uri="{FF2B5EF4-FFF2-40B4-BE49-F238E27FC236}">
                  <a16:creationId xmlns:a16="http://schemas.microsoft.com/office/drawing/2014/main" id="{0CD4B41B-5BB2-4E3F-BF59-08BBD8A259BB}"/>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8" name="í$ḻîdê">
              <a:extLst>
                <a:ext uri="{FF2B5EF4-FFF2-40B4-BE49-F238E27FC236}">
                  <a16:creationId xmlns:a16="http://schemas.microsoft.com/office/drawing/2014/main" id="{1D0FB94F-ADD5-4B17-874E-934617C96EF9}"/>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9" name="iṩḷídé">
              <a:extLst>
                <a:ext uri="{FF2B5EF4-FFF2-40B4-BE49-F238E27FC236}">
                  <a16:creationId xmlns:a16="http://schemas.microsoft.com/office/drawing/2014/main" id="{CDBF9F61-132A-4080-82BB-85FAED1C6BAD}"/>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0" name="iślíḓè">
              <a:extLst>
                <a:ext uri="{FF2B5EF4-FFF2-40B4-BE49-F238E27FC236}">
                  <a16:creationId xmlns:a16="http://schemas.microsoft.com/office/drawing/2014/main" id="{03638A0B-E613-4283-A3EC-77A39B0402B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1" name="îṥ1ïḋe">
              <a:extLst>
                <a:ext uri="{FF2B5EF4-FFF2-40B4-BE49-F238E27FC236}">
                  <a16:creationId xmlns:a16="http://schemas.microsoft.com/office/drawing/2014/main" id="{2B866E92-410F-493E-9736-BCB57AD1BF7B}"/>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2" name="iṧḷídè">
              <a:extLst>
                <a:ext uri="{FF2B5EF4-FFF2-40B4-BE49-F238E27FC236}">
                  <a16:creationId xmlns:a16="http://schemas.microsoft.com/office/drawing/2014/main" id="{1996A683-DCAD-4511-AE81-E8DE83E286D5}"/>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3" name="ïṩḷíḍé">
              <a:extLst>
                <a:ext uri="{FF2B5EF4-FFF2-40B4-BE49-F238E27FC236}">
                  <a16:creationId xmlns:a16="http://schemas.microsoft.com/office/drawing/2014/main" id="{023709A7-17C1-4DAA-B6A8-5FF05023656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4" name="ï$liḓê">
              <a:extLst>
                <a:ext uri="{FF2B5EF4-FFF2-40B4-BE49-F238E27FC236}">
                  <a16:creationId xmlns:a16="http://schemas.microsoft.com/office/drawing/2014/main" id="{6CD15305-6B70-4D88-B3F7-F9712358B781}"/>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5" name="iṩlidè">
              <a:extLst>
                <a:ext uri="{FF2B5EF4-FFF2-40B4-BE49-F238E27FC236}">
                  <a16:creationId xmlns:a16="http://schemas.microsoft.com/office/drawing/2014/main" id="{47492402-40B1-4F68-B34E-5D0FBD339690}"/>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6" name="íṧļîḓé">
              <a:extLst>
                <a:ext uri="{FF2B5EF4-FFF2-40B4-BE49-F238E27FC236}">
                  <a16:creationId xmlns:a16="http://schemas.microsoft.com/office/drawing/2014/main" id="{8964601F-7EF6-4445-B8B5-3A01279E1078}"/>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7" name="iṩḻîḑè">
              <a:extLst>
                <a:ext uri="{FF2B5EF4-FFF2-40B4-BE49-F238E27FC236}">
                  <a16:creationId xmlns:a16="http://schemas.microsoft.com/office/drawing/2014/main" id="{10A6475E-0564-4194-8F1E-0AAB788098D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8" name="ïṣľíḑé">
              <a:extLst>
                <a:ext uri="{FF2B5EF4-FFF2-40B4-BE49-F238E27FC236}">
                  <a16:creationId xmlns:a16="http://schemas.microsoft.com/office/drawing/2014/main" id="{AE4F291B-CBB3-4380-92DB-0E278BBDA6C0}"/>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9" name="îşḻîḑè">
              <a:extLst>
                <a:ext uri="{FF2B5EF4-FFF2-40B4-BE49-F238E27FC236}">
                  <a16:creationId xmlns:a16="http://schemas.microsoft.com/office/drawing/2014/main" id="{FDBC27AF-C6A8-4B4A-8E61-95E484D2FBE3}"/>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0" name="iṣḷiḓê">
              <a:extLst>
                <a:ext uri="{FF2B5EF4-FFF2-40B4-BE49-F238E27FC236}">
                  <a16:creationId xmlns:a16="http://schemas.microsoft.com/office/drawing/2014/main" id="{805642E9-F471-447D-B770-293687BC2974}"/>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1" name="işļídè">
              <a:extLst>
                <a:ext uri="{FF2B5EF4-FFF2-40B4-BE49-F238E27FC236}">
                  <a16:creationId xmlns:a16="http://schemas.microsoft.com/office/drawing/2014/main" id="{0C237F03-088E-4D62-8592-58FF78F61E8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grpSp>
      <p:sp>
        <p:nvSpPr>
          <p:cNvPr id="72" name="文本框 71">
            <a:extLst>
              <a:ext uri="{FF2B5EF4-FFF2-40B4-BE49-F238E27FC236}">
                <a16:creationId xmlns:a16="http://schemas.microsoft.com/office/drawing/2014/main" id="{F42728B2-0D4C-41BE-827B-06F39D1E6FC5}"/>
              </a:ext>
            </a:extLst>
          </p:cNvPr>
          <p:cNvSpPr txBox="1"/>
          <p:nvPr/>
        </p:nvSpPr>
        <p:spPr>
          <a:xfrm>
            <a:off x="3848600" y="84515"/>
            <a:ext cx="4750125" cy="461665"/>
          </a:xfrm>
          <a:prstGeom prst="rect">
            <a:avLst/>
          </a:prstGeom>
          <a:noFill/>
        </p:spPr>
        <p:txBody>
          <a:bodyPr wrap="square">
            <a:spAutoFit/>
          </a:bodyPr>
          <a:lstStyle/>
          <a:p>
            <a:pPr algn="ctr">
              <a:defRPr/>
            </a:pPr>
            <a:r>
              <a:rPr lang="zh-CN" altLang="en-US"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背景介绍</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5" name="图片 74">
            <a:extLst>
              <a:ext uri="{FF2B5EF4-FFF2-40B4-BE49-F238E27FC236}">
                <a16:creationId xmlns:a16="http://schemas.microsoft.com/office/drawing/2014/main" id="{E96FE130-3C4A-489B-9F55-EEE07ADE6FF0}"/>
              </a:ext>
            </a:extLst>
          </p:cNvPr>
          <p:cNvPicPr>
            <a:picLocks noChangeAspect="1"/>
          </p:cNvPicPr>
          <p:nvPr/>
        </p:nvPicPr>
        <p:blipFill>
          <a:blip r:embed="rId3"/>
          <a:stretch>
            <a:fillRect/>
          </a:stretch>
        </p:blipFill>
        <p:spPr>
          <a:xfrm>
            <a:off x="697945" y="888922"/>
            <a:ext cx="3841174" cy="1360496"/>
          </a:xfrm>
          <a:prstGeom prst="rect">
            <a:avLst/>
          </a:prstGeom>
        </p:spPr>
      </p:pic>
      <p:sp>
        <p:nvSpPr>
          <p:cNvPr id="76" name="文本框 75">
            <a:extLst>
              <a:ext uri="{FF2B5EF4-FFF2-40B4-BE49-F238E27FC236}">
                <a16:creationId xmlns:a16="http://schemas.microsoft.com/office/drawing/2014/main" id="{26C036BF-6C3B-41A2-9BDB-ED8FB4B48F36}"/>
              </a:ext>
            </a:extLst>
          </p:cNvPr>
          <p:cNvSpPr txBox="1"/>
          <p:nvPr/>
        </p:nvSpPr>
        <p:spPr>
          <a:xfrm>
            <a:off x="1005104" y="2468000"/>
            <a:ext cx="3294016" cy="461665"/>
          </a:xfrm>
          <a:prstGeom prst="rect">
            <a:avLst/>
          </a:prstGeom>
          <a:noFill/>
        </p:spPr>
        <p:txBody>
          <a:bodyPr wrap="square">
            <a:spAutoFit/>
          </a:bodyPr>
          <a:lstStyle/>
          <a:p>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变构</a:t>
            </a:r>
            <a:r>
              <a:rPr lang="zh-CN" altLang="en-US"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通过分子、膜或作用于影响蛋白质功能的远端部位的翻译后修饰对正构位点的调节</a:t>
            </a:r>
            <a:endParaRPr lang="zh-CN" altLang="en-US" sz="1200" b="1" dirty="0">
              <a:latin typeface="微软雅黑" panose="020B0503020204020204" pitchFamily="34" charset="-122"/>
              <a:ea typeface="微软雅黑" panose="020B0503020204020204" pitchFamily="34" charset="-122"/>
            </a:endParaRPr>
          </a:p>
        </p:txBody>
      </p:sp>
      <p:pic>
        <p:nvPicPr>
          <p:cNvPr id="77" name="图片 76">
            <a:extLst>
              <a:ext uri="{FF2B5EF4-FFF2-40B4-BE49-F238E27FC236}">
                <a16:creationId xmlns:a16="http://schemas.microsoft.com/office/drawing/2014/main" id="{B2D5C97A-18A8-4852-8D01-0B4EAE54CE53}"/>
              </a:ext>
            </a:extLst>
          </p:cNvPr>
          <p:cNvPicPr>
            <a:picLocks noChangeAspect="1"/>
          </p:cNvPicPr>
          <p:nvPr/>
        </p:nvPicPr>
        <p:blipFill>
          <a:blip r:embed="rId4"/>
          <a:stretch>
            <a:fillRect/>
          </a:stretch>
        </p:blipFill>
        <p:spPr>
          <a:xfrm>
            <a:off x="592392" y="3628763"/>
            <a:ext cx="4481610" cy="1959640"/>
          </a:xfrm>
          <a:prstGeom prst="rect">
            <a:avLst/>
          </a:prstGeom>
        </p:spPr>
      </p:pic>
      <p:sp>
        <p:nvSpPr>
          <p:cNvPr id="78" name="文本框 77">
            <a:extLst>
              <a:ext uri="{FF2B5EF4-FFF2-40B4-BE49-F238E27FC236}">
                <a16:creationId xmlns:a16="http://schemas.microsoft.com/office/drawing/2014/main" id="{3CE4C8CC-4C5D-4B89-B504-92F546DF03B6}"/>
              </a:ext>
            </a:extLst>
          </p:cNvPr>
          <p:cNvSpPr txBox="1"/>
          <p:nvPr/>
        </p:nvSpPr>
        <p:spPr>
          <a:xfrm>
            <a:off x="1235306" y="5867241"/>
            <a:ext cx="2929135" cy="276999"/>
          </a:xfrm>
          <a:prstGeom prst="rect">
            <a:avLst/>
          </a:prstGeom>
          <a:noFill/>
        </p:spPr>
        <p:txBody>
          <a:bodyPr wrap="square">
            <a:spAutoFit/>
          </a:bodyPr>
          <a:lstStyle/>
          <a:p>
            <a:r>
              <a:rPr lang="zh-CN" altLang="en-US"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ASD </a:t>
            </a:r>
            <a:r>
              <a:rPr lang="zh-CN" altLang="en-US"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中变构调节剂数量的年增长</a:t>
            </a:r>
          </a:p>
        </p:txBody>
      </p:sp>
      <p:sp>
        <p:nvSpPr>
          <p:cNvPr id="79" name="文本框 78">
            <a:extLst>
              <a:ext uri="{FF2B5EF4-FFF2-40B4-BE49-F238E27FC236}">
                <a16:creationId xmlns:a16="http://schemas.microsoft.com/office/drawing/2014/main" id="{FCBFB651-C681-401B-994C-40018F47732E}"/>
              </a:ext>
            </a:extLst>
          </p:cNvPr>
          <p:cNvSpPr txBox="1"/>
          <p:nvPr/>
        </p:nvSpPr>
        <p:spPr>
          <a:xfrm>
            <a:off x="576231" y="6259806"/>
            <a:ext cx="4644971" cy="461665"/>
          </a:xfrm>
          <a:prstGeom prst="rect">
            <a:avLst/>
          </a:prstGeom>
          <a:noFill/>
        </p:spPr>
        <p:txBody>
          <a:bodyPr wrap="square">
            <a:spAutoFit/>
          </a:bodyPr>
          <a:lstStyle/>
          <a:p>
            <a:pPr algn="just"/>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2023</a:t>
            </a:r>
            <a:r>
              <a:rPr lang="zh-CN" altLang="en-US"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年新增</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500</a:t>
            </a: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个新的变构靶点、</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18000</a:t>
            </a: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个新的变构调节剂和</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19000</a:t>
            </a: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个新的变构相互作用</a:t>
            </a:r>
          </a:p>
        </p:txBody>
      </p:sp>
      <p:sp>
        <p:nvSpPr>
          <p:cNvPr id="80" name="文本框 79">
            <a:extLst>
              <a:ext uri="{FF2B5EF4-FFF2-40B4-BE49-F238E27FC236}">
                <a16:creationId xmlns:a16="http://schemas.microsoft.com/office/drawing/2014/main" id="{B0B5EEDB-C5A7-4F0B-8688-5D0A5A02945A}"/>
              </a:ext>
            </a:extLst>
          </p:cNvPr>
          <p:cNvSpPr txBox="1"/>
          <p:nvPr/>
        </p:nvSpPr>
        <p:spPr>
          <a:xfrm>
            <a:off x="5866350" y="1036039"/>
            <a:ext cx="6183236" cy="89069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数量与覆盖率：</a:t>
            </a:r>
            <a:r>
              <a:rPr lang="zh-CN"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已知</a:t>
            </a:r>
            <a:r>
              <a:rPr lang="en-US"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66,589</a:t>
            </a:r>
            <a:r>
              <a:rPr lang="zh-CN"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个潜在变构位点，分布于</a:t>
            </a:r>
            <a:r>
              <a:rPr lang="en-US"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17,767</a:t>
            </a:r>
            <a:r>
              <a:rPr lang="zh-CN"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种蛋白质，</a:t>
            </a: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覆盖率</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&gt;80%</a:t>
            </a:r>
          </a:p>
          <a:p>
            <a:pPr marL="171450" indent="-171450">
              <a:lnSpc>
                <a:spcPct val="150000"/>
              </a:lnSpc>
              <a:buFont typeface="Arial" panose="020B0604020202020204" pitchFamily="34" charset="0"/>
              <a:buChar char="•"/>
            </a:pP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蛋白类别分布：</a:t>
            </a:r>
            <a:r>
              <a:rPr lang="zh-CN"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涵盖所有蛋白质类别，</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GPCR</a:t>
            </a: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、离子通道和水解酶</a:t>
            </a:r>
            <a:r>
              <a:rPr lang="zh-CN"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变构位点最频繁</a:t>
            </a:r>
            <a:endParaRPr lang="en-US"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171450" indent="-171450">
              <a:lnSpc>
                <a:spcPct val="150000"/>
              </a:lnSpc>
              <a:buFont typeface="Arial" panose="020B0604020202020204" pitchFamily="34" charset="0"/>
              <a:buChar char="•"/>
            </a:pPr>
            <a:r>
              <a:rPr lang="zh-CN"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药物开发潜力：</a:t>
            </a:r>
            <a:r>
              <a:rPr lang="en-US" altLang="zh-CN" sz="12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&gt;70%</a:t>
            </a:r>
            <a:r>
              <a:rPr lang="zh-CN" altLang="zh-CN" sz="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蛋白质具有可作为分子靶点的变构位点</a:t>
            </a:r>
          </a:p>
        </p:txBody>
      </p:sp>
      <p:pic>
        <p:nvPicPr>
          <p:cNvPr id="81" name="图片 80">
            <a:extLst>
              <a:ext uri="{FF2B5EF4-FFF2-40B4-BE49-F238E27FC236}">
                <a16:creationId xmlns:a16="http://schemas.microsoft.com/office/drawing/2014/main" id="{34AC0977-557A-4E3F-BFF1-C1E63B8F90E7}"/>
              </a:ext>
            </a:extLst>
          </p:cNvPr>
          <p:cNvPicPr>
            <a:picLocks noChangeAspect="1"/>
          </p:cNvPicPr>
          <p:nvPr/>
        </p:nvPicPr>
        <p:blipFill>
          <a:blip r:embed="rId5"/>
          <a:stretch>
            <a:fillRect/>
          </a:stretch>
        </p:blipFill>
        <p:spPr>
          <a:xfrm>
            <a:off x="6246558" y="2171466"/>
            <a:ext cx="4748838" cy="2634040"/>
          </a:xfrm>
          <a:prstGeom prst="rect">
            <a:avLst/>
          </a:prstGeom>
        </p:spPr>
      </p:pic>
      <p:sp>
        <p:nvSpPr>
          <p:cNvPr id="82" name="文本框 81">
            <a:extLst>
              <a:ext uri="{FF2B5EF4-FFF2-40B4-BE49-F238E27FC236}">
                <a16:creationId xmlns:a16="http://schemas.microsoft.com/office/drawing/2014/main" id="{47359176-B174-4561-8BBD-578104EAF2B3}"/>
              </a:ext>
            </a:extLst>
          </p:cNvPr>
          <p:cNvSpPr txBox="1"/>
          <p:nvPr/>
        </p:nvSpPr>
        <p:spPr>
          <a:xfrm>
            <a:off x="5848616" y="4931269"/>
            <a:ext cx="6200970" cy="1843005"/>
          </a:xfrm>
          <a:prstGeom prst="rect">
            <a:avLst/>
          </a:prstGeom>
          <a:noFill/>
        </p:spPr>
        <p:txBody>
          <a:bodyPr wrap="square">
            <a:spAutoFit/>
          </a:bodyPr>
          <a:lstStyle/>
          <a:p>
            <a:pPr marL="171450" indent="-171450" algn="just">
              <a:lnSpc>
                <a:spcPct val="150000"/>
              </a:lnSpc>
              <a:buFont typeface="Wingdings" panose="05000000000000000000" pitchFamily="2" charset="2"/>
              <a:buChar char="p"/>
            </a:pPr>
            <a:r>
              <a:rPr lang="en-US"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VP35</a:t>
            </a:r>
            <a:r>
              <a:rPr lang="zh-CN"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（埃博拉病毒）：</a:t>
            </a:r>
            <a:r>
              <a:rPr lang="zh-CN"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由于结合界面平坦被认为</a:t>
            </a:r>
            <a:r>
              <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不可成药</a:t>
            </a:r>
            <a:r>
              <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，但发现隐藏变构口袋为抗病毒药物开发带来新机会。</a:t>
            </a:r>
            <a:endPar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171450" indent="-171450" algn="just">
              <a:lnSpc>
                <a:spcPct val="150000"/>
              </a:lnSpc>
              <a:buFont typeface="Wingdings" panose="05000000000000000000" pitchFamily="2" charset="2"/>
              <a:buChar char="p"/>
            </a:pPr>
            <a:r>
              <a:rPr lang="en-US"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β2AR</a:t>
            </a:r>
            <a:r>
              <a:rPr lang="zh-CN"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GPCR</a:t>
            </a:r>
            <a:r>
              <a:rPr lang="zh-CN"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鉴定出新的隐藏变构位点，为心血管和呼吸相关疾病提供潜在靶点。</a:t>
            </a:r>
            <a:endPar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171450" indent="-171450" algn="just">
              <a:lnSpc>
                <a:spcPct val="150000"/>
              </a:lnSpc>
              <a:buFont typeface="Wingdings" panose="05000000000000000000" pitchFamily="2" charset="2"/>
              <a:buChar char="p"/>
            </a:pPr>
            <a:r>
              <a:rPr lang="en-US"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Sirt6</a:t>
            </a:r>
            <a:r>
              <a:rPr lang="zh-CN"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（去乙酰化酶）：</a:t>
            </a:r>
            <a:r>
              <a:rPr lang="zh-CN"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通过变构位点实现选择性调控，有望突破同源家族靶点选择性不足的难题。</a:t>
            </a:r>
            <a:endPar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171450" indent="-171450" algn="just">
              <a:lnSpc>
                <a:spcPct val="150000"/>
              </a:lnSpc>
              <a:buFont typeface="Wingdings" panose="05000000000000000000" pitchFamily="2" charset="2"/>
              <a:buChar char="p"/>
            </a:pPr>
            <a:r>
              <a:rPr lang="en-US" altLang="zh-CN"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KRAS</a:t>
            </a:r>
            <a:r>
              <a:rPr lang="zh-CN" altLang="en-US"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（癌基因蛋白</a:t>
            </a:r>
            <a:r>
              <a:rPr lang="zh-CN" altLang="en-US"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隐藏变构口袋（如 </a:t>
            </a:r>
            <a:r>
              <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Switch-II </a:t>
            </a:r>
            <a:r>
              <a:rPr lang="zh-CN" altLang="en-US"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口袋）的发现，为开发直接抑制 </a:t>
            </a:r>
            <a:r>
              <a:rPr lang="en-US"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KRAS </a:t>
            </a:r>
            <a:r>
              <a:rPr lang="zh-CN" altLang="en-US"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的创新抗癌药物打开了突破口</a:t>
            </a:r>
            <a:r>
              <a:rPr lang="zh-CN" altLang="en-US" sz="1100" dirty="0"/>
              <a:t>。</a:t>
            </a:r>
            <a:endParaRPr lang="zh-CN" altLang="zh-CN" sz="11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919510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B41F271-A74D-4357-A142-7E403BD7998B}"/>
              </a:ext>
            </a:extLst>
          </p:cNvPr>
          <p:cNvSpPr>
            <a:spLocks noGrp="1"/>
          </p:cNvSpPr>
          <p:nvPr>
            <p:ph type="sldNum" sz="quarter" idx="12"/>
          </p:nvPr>
        </p:nvSpPr>
        <p:spPr/>
        <p:txBody>
          <a:bodyPr/>
          <a:lstStyle/>
          <a:p>
            <a:fld id="{CA71748E-C824-44A4-80B9-F8DE6AD98080}" type="slidenum">
              <a:rPr lang="zh-CN" altLang="en-US" smtClean="0"/>
              <a:pPr/>
              <a:t>3</a:t>
            </a:fld>
            <a:endParaRPr lang="zh-CN" altLang="en-US" dirty="0"/>
          </a:p>
        </p:txBody>
      </p:sp>
      <p:grpSp>
        <p:nvGrpSpPr>
          <p:cNvPr id="3" name="组合 2">
            <a:extLst>
              <a:ext uri="{FF2B5EF4-FFF2-40B4-BE49-F238E27FC236}">
                <a16:creationId xmlns:a16="http://schemas.microsoft.com/office/drawing/2014/main" id="{9E925BDD-DDF7-4E6C-83A5-F19F5A38DB55}"/>
              </a:ext>
            </a:extLst>
          </p:cNvPr>
          <p:cNvGrpSpPr/>
          <p:nvPr/>
        </p:nvGrpSpPr>
        <p:grpSpPr>
          <a:xfrm>
            <a:off x="10355228" y="40072"/>
            <a:ext cx="1725943" cy="563993"/>
            <a:chOff x="3302807" y="1034911"/>
            <a:chExt cx="2457878" cy="799669"/>
          </a:xfrm>
          <a:solidFill>
            <a:schemeClr val="bg1"/>
          </a:solidFill>
        </p:grpSpPr>
        <p:sp>
          <p:nvSpPr>
            <p:cNvPr id="4" name="íṡḷîḍê">
              <a:extLst>
                <a:ext uri="{FF2B5EF4-FFF2-40B4-BE49-F238E27FC236}">
                  <a16:creationId xmlns:a16="http://schemas.microsoft.com/office/drawing/2014/main" id="{B7DAB3D5-1E9D-497A-82FA-174CF2DA1B22}"/>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 name="íŝḻiḍè">
              <a:extLst>
                <a:ext uri="{FF2B5EF4-FFF2-40B4-BE49-F238E27FC236}">
                  <a16:creationId xmlns:a16="http://schemas.microsoft.com/office/drawing/2014/main" id="{3CD59F79-CA87-4AFC-91CD-6DC9AD869AB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 name="îS1iďê">
              <a:extLst>
                <a:ext uri="{FF2B5EF4-FFF2-40B4-BE49-F238E27FC236}">
                  <a16:creationId xmlns:a16="http://schemas.microsoft.com/office/drawing/2014/main" id="{D9082833-9A8D-451C-9E9B-A75F7EC9CE9C}"/>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 name="i$ḷíḓe">
              <a:extLst>
                <a:ext uri="{FF2B5EF4-FFF2-40B4-BE49-F238E27FC236}">
                  <a16:creationId xmlns:a16="http://schemas.microsoft.com/office/drawing/2014/main" id="{C2542898-AB5D-4DF1-AAEB-02702076BAF4}"/>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8" name="îş1íḍé">
              <a:extLst>
                <a:ext uri="{FF2B5EF4-FFF2-40B4-BE49-F238E27FC236}">
                  <a16:creationId xmlns:a16="http://schemas.microsoft.com/office/drawing/2014/main" id="{91681F7B-A9A6-4D02-ABA0-ABA321DABC32}"/>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9" name="išḻïde">
              <a:extLst>
                <a:ext uri="{FF2B5EF4-FFF2-40B4-BE49-F238E27FC236}">
                  <a16:creationId xmlns:a16="http://schemas.microsoft.com/office/drawing/2014/main" id="{513533E5-8338-4BE4-B223-47882EF7B57F}"/>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0" name="ís1ïḓè">
              <a:extLst>
                <a:ext uri="{FF2B5EF4-FFF2-40B4-BE49-F238E27FC236}">
                  <a16:creationId xmlns:a16="http://schemas.microsoft.com/office/drawing/2014/main" id="{323083E9-F55E-416E-BB30-2636637171D1}"/>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1" name="ïṩlïďê">
              <a:extLst>
                <a:ext uri="{FF2B5EF4-FFF2-40B4-BE49-F238E27FC236}">
                  <a16:creationId xmlns:a16="http://schemas.microsoft.com/office/drawing/2014/main" id="{ABE5637E-6234-4CB9-9033-3733C5BE4217}"/>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2" name="íSliḋê">
              <a:extLst>
                <a:ext uri="{FF2B5EF4-FFF2-40B4-BE49-F238E27FC236}">
                  <a16:creationId xmlns:a16="http://schemas.microsoft.com/office/drawing/2014/main" id="{0D1C8DA9-A6DB-4D51-8500-D03374A57319}"/>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3" name="ísļîdè">
              <a:extLst>
                <a:ext uri="{FF2B5EF4-FFF2-40B4-BE49-F238E27FC236}">
                  <a16:creationId xmlns:a16="http://schemas.microsoft.com/office/drawing/2014/main" id="{7CCB3B3D-53E1-4017-82B5-CF5A4DD6A3E0}"/>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4" name="îSlíḋé">
              <a:extLst>
                <a:ext uri="{FF2B5EF4-FFF2-40B4-BE49-F238E27FC236}">
                  <a16:creationId xmlns:a16="http://schemas.microsoft.com/office/drawing/2014/main" id="{9640B468-4C4F-4527-94BA-3ECC0D5372C8}"/>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5" name="íŝ1ïḓê">
              <a:extLst>
                <a:ext uri="{FF2B5EF4-FFF2-40B4-BE49-F238E27FC236}">
                  <a16:creationId xmlns:a16="http://schemas.microsoft.com/office/drawing/2014/main" id="{F58668AD-D100-4F49-8DA3-41B80F92BDEB}"/>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6" name="ï$ľíḑè">
              <a:extLst>
                <a:ext uri="{FF2B5EF4-FFF2-40B4-BE49-F238E27FC236}">
                  <a16:creationId xmlns:a16="http://schemas.microsoft.com/office/drawing/2014/main" id="{8EE84E50-2307-4E87-BB9E-DECBD53EFF21}"/>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7" name="ïṧ1íḓè">
              <a:extLst>
                <a:ext uri="{FF2B5EF4-FFF2-40B4-BE49-F238E27FC236}">
                  <a16:creationId xmlns:a16="http://schemas.microsoft.com/office/drawing/2014/main" id="{54FE914B-3908-4F69-9331-FC960FC421AC}"/>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8" name="işļïḑê">
              <a:extLst>
                <a:ext uri="{FF2B5EF4-FFF2-40B4-BE49-F238E27FC236}">
                  <a16:creationId xmlns:a16="http://schemas.microsoft.com/office/drawing/2014/main" id="{8DEEFCB4-6139-4C4A-8E87-848236672B5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9" name="îŝ1îdé">
              <a:extLst>
                <a:ext uri="{FF2B5EF4-FFF2-40B4-BE49-F238E27FC236}">
                  <a16:creationId xmlns:a16="http://schemas.microsoft.com/office/drawing/2014/main" id="{92784CEC-2275-46F5-8A68-45B0AE589D81}"/>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0" name="iṩlîḍe">
              <a:extLst>
                <a:ext uri="{FF2B5EF4-FFF2-40B4-BE49-F238E27FC236}">
                  <a16:creationId xmlns:a16="http://schemas.microsoft.com/office/drawing/2014/main" id="{C8A26868-88A0-4507-A5D8-E138E3D9B4A8}"/>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1" name="ïṣlíḋe">
              <a:extLst>
                <a:ext uri="{FF2B5EF4-FFF2-40B4-BE49-F238E27FC236}">
                  <a16:creationId xmlns:a16="http://schemas.microsoft.com/office/drawing/2014/main" id="{0AF089DF-EF6B-4ADE-A326-19A7C439838B}"/>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2" name="ísļiďè">
              <a:extLst>
                <a:ext uri="{FF2B5EF4-FFF2-40B4-BE49-F238E27FC236}">
                  <a16:creationId xmlns:a16="http://schemas.microsoft.com/office/drawing/2014/main" id="{6E7E66AA-024D-4CBF-AD28-F3D7BBA1DC9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3" name="íṡlïde">
              <a:extLst>
                <a:ext uri="{FF2B5EF4-FFF2-40B4-BE49-F238E27FC236}">
                  <a16:creationId xmlns:a16="http://schemas.microsoft.com/office/drawing/2014/main" id="{58D526EB-CA35-4501-A071-BE8EE8401D9B}"/>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4" name="iṩlide">
              <a:extLst>
                <a:ext uri="{FF2B5EF4-FFF2-40B4-BE49-F238E27FC236}">
                  <a16:creationId xmlns:a16="http://schemas.microsoft.com/office/drawing/2014/main" id="{DAD20913-237F-4A14-8CED-12F9DB2C90C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5" name="îs1ïde">
              <a:extLst>
                <a:ext uri="{FF2B5EF4-FFF2-40B4-BE49-F238E27FC236}">
                  <a16:creationId xmlns:a16="http://schemas.microsoft.com/office/drawing/2014/main" id="{AF9D7022-ACC7-4272-B4B9-3205C319BF2C}"/>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6" name="i$ľïḑe">
              <a:extLst>
                <a:ext uri="{FF2B5EF4-FFF2-40B4-BE49-F238E27FC236}">
                  <a16:creationId xmlns:a16="http://schemas.microsoft.com/office/drawing/2014/main" id="{AC79B310-6ED8-4948-8FCB-12535517E453}"/>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7" name="iŝļíḍè">
              <a:extLst>
                <a:ext uri="{FF2B5EF4-FFF2-40B4-BE49-F238E27FC236}">
                  <a16:creationId xmlns:a16="http://schemas.microsoft.com/office/drawing/2014/main" id="{B49FD3D8-8A07-4672-8C50-DA8225DC1B6D}"/>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8" name="íṩḻîḋê">
              <a:extLst>
                <a:ext uri="{FF2B5EF4-FFF2-40B4-BE49-F238E27FC236}">
                  <a16:creationId xmlns:a16="http://schemas.microsoft.com/office/drawing/2014/main" id="{D64673D0-AE6B-4CA7-B808-1C4131186FEC}"/>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9" name="íṡľiḑê">
              <a:extLst>
                <a:ext uri="{FF2B5EF4-FFF2-40B4-BE49-F238E27FC236}">
                  <a16:creationId xmlns:a16="http://schemas.microsoft.com/office/drawing/2014/main" id="{177286FE-A4B8-4D0F-9322-BD39685A7D1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0" name="iṥļiḓe">
              <a:extLst>
                <a:ext uri="{FF2B5EF4-FFF2-40B4-BE49-F238E27FC236}">
                  <a16:creationId xmlns:a16="http://schemas.microsoft.com/office/drawing/2014/main" id="{198A164A-9A98-4B59-8AA7-143B9D8D8C5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1" name="iŝ1îḋé">
              <a:extLst>
                <a:ext uri="{FF2B5EF4-FFF2-40B4-BE49-F238E27FC236}">
                  <a16:creationId xmlns:a16="http://schemas.microsoft.com/office/drawing/2014/main" id="{26C0001B-30DE-4E60-954C-9BDAA20BBC4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2" name="iṩḷiḓè">
              <a:extLst>
                <a:ext uri="{FF2B5EF4-FFF2-40B4-BE49-F238E27FC236}">
                  <a16:creationId xmlns:a16="http://schemas.microsoft.com/office/drawing/2014/main" id="{E8C0F229-7C1A-415B-ADDA-3E0BC71EC006}"/>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3" name="îṥ1ïďé">
              <a:extLst>
                <a:ext uri="{FF2B5EF4-FFF2-40B4-BE49-F238E27FC236}">
                  <a16:creationId xmlns:a16="http://schemas.microsoft.com/office/drawing/2014/main" id="{962C5FFF-22F0-49E5-B883-A585E928C22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4" name="iSḷiḍé">
              <a:extLst>
                <a:ext uri="{FF2B5EF4-FFF2-40B4-BE49-F238E27FC236}">
                  <a16:creationId xmlns:a16="http://schemas.microsoft.com/office/drawing/2014/main" id="{532DA388-DA31-49F4-9D03-4CB631CB06F1}"/>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5" name="îşļíďê">
              <a:extLst>
                <a:ext uri="{FF2B5EF4-FFF2-40B4-BE49-F238E27FC236}">
                  <a16:creationId xmlns:a16="http://schemas.microsoft.com/office/drawing/2014/main" id="{F5472015-6FB1-4811-A13E-8298A61D318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6" name="îš1íḍê">
              <a:extLst>
                <a:ext uri="{FF2B5EF4-FFF2-40B4-BE49-F238E27FC236}">
                  <a16:creationId xmlns:a16="http://schemas.microsoft.com/office/drawing/2014/main" id="{9385DB0A-5A3C-4F15-9C2D-5E2ABB70F3E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7" name="íŝliḓê">
              <a:extLst>
                <a:ext uri="{FF2B5EF4-FFF2-40B4-BE49-F238E27FC236}">
                  <a16:creationId xmlns:a16="http://schemas.microsoft.com/office/drawing/2014/main" id="{FFB97CBD-70FA-457A-9F5F-F1069CE476EF}"/>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8" name="iṡļiḍe">
              <a:extLst>
                <a:ext uri="{FF2B5EF4-FFF2-40B4-BE49-F238E27FC236}">
                  <a16:creationId xmlns:a16="http://schemas.microsoft.com/office/drawing/2014/main" id="{A9C25906-236A-4EEF-A6C6-FC45C14A17E1}"/>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9" name="ï$ļïdé">
              <a:extLst>
                <a:ext uri="{FF2B5EF4-FFF2-40B4-BE49-F238E27FC236}">
                  <a16:creationId xmlns:a16="http://schemas.microsoft.com/office/drawing/2014/main" id="{D71BD8C1-7099-4D6D-AF5F-DF4971707CD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0" name="íšlíḓe">
              <a:extLst>
                <a:ext uri="{FF2B5EF4-FFF2-40B4-BE49-F238E27FC236}">
                  <a16:creationId xmlns:a16="http://schemas.microsoft.com/office/drawing/2014/main" id="{B3EE0E0C-7E27-4BF7-BCBC-F3271B42F25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1" name="ïṣļïḍê">
              <a:extLst>
                <a:ext uri="{FF2B5EF4-FFF2-40B4-BE49-F238E27FC236}">
                  <a16:creationId xmlns:a16="http://schemas.microsoft.com/office/drawing/2014/main" id="{E4534144-B554-4403-9A06-421DB972E96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2" name="ís1íḍe">
              <a:extLst>
                <a:ext uri="{FF2B5EF4-FFF2-40B4-BE49-F238E27FC236}">
                  <a16:creationId xmlns:a16="http://schemas.microsoft.com/office/drawing/2014/main" id="{1472B056-8AFF-4449-AA55-ECE25AACF595}"/>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3" name="íşlïḋe">
              <a:extLst>
                <a:ext uri="{FF2B5EF4-FFF2-40B4-BE49-F238E27FC236}">
                  <a16:creationId xmlns:a16="http://schemas.microsoft.com/office/drawing/2014/main" id="{7D8A04DB-C591-4E85-89D8-04A430C381E8}"/>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4" name="iŝļîḍé">
              <a:extLst>
                <a:ext uri="{FF2B5EF4-FFF2-40B4-BE49-F238E27FC236}">
                  <a16:creationId xmlns:a16="http://schemas.microsoft.com/office/drawing/2014/main" id="{2D8480CD-606A-4BA9-8EFF-19D2566CCD8D}"/>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5" name="íṧḷídé">
              <a:extLst>
                <a:ext uri="{FF2B5EF4-FFF2-40B4-BE49-F238E27FC236}">
                  <a16:creationId xmlns:a16="http://schemas.microsoft.com/office/drawing/2014/main" id="{E9C5F1D9-5889-4FF8-9CD5-F08238743ED8}"/>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6" name="îSḻiḋe">
              <a:extLst>
                <a:ext uri="{FF2B5EF4-FFF2-40B4-BE49-F238E27FC236}">
                  <a16:creationId xmlns:a16="http://schemas.microsoft.com/office/drawing/2014/main" id="{72355679-4F3A-46F4-A1D7-A4D95C62C24C}"/>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7" name="í$ḻîḓè">
              <a:extLst>
                <a:ext uri="{FF2B5EF4-FFF2-40B4-BE49-F238E27FC236}">
                  <a16:creationId xmlns:a16="http://schemas.microsoft.com/office/drawing/2014/main" id="{0D62BB02-4635-447A-B78F-48138FF0B952}"/>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8" name="ïŝḷíḍe">
              <a:extLst>
                <a:ext uri="{FF2B5EF4-FFF2-40B4-BE49-F238E27FC236}">
                  <a16:creationId xmlns:a16="http://schemas.microsoft.com/office/drawing/2014/main" id="{C6FC2748-B6CD-4438-B252-1F76FB6B970D}"/>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9" name="íṩļiḋe">
              <a:extLst>
                <a:ext uri="{FF2B5EF4-FFF2-40B4-BE49-F238E27FC236}">
                  <a16:creationId xmlns:a16="http://schemas.microsoft.com/office/drawing/2014/main" id="{87CB755A-C3F8-4096-837D-49EA5A9329B0}"/>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0" name="îṡlïḍé">
              <a:extLst>
                <a:ext uri="{FF2B5EF4-FFF2-40B4-BE49-F238E27FC236}">
                  <a16:creationId xmlns:a16="http://schemas.microsoft.com/office/drawing/2014/main" id="{E93EA309-2F07-4C3F-A2E3-C203B3C115D0}"/>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1" name="iS1îḓè">
              <a:extLst>
                <a:ext uri="{FF2B5EF4-FFF2-40B4-BE49-F238E27FC236}">
                  <a16:creationId xmlns:a16="http://schemas.microsoft.com/office/drawing/2014/main" id="{C7E65CBF-B551-4358-8D74-339CF7743DD3}"/>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2" name="íṡḷiḑê">
              <a:extLst>
                <a:ext uri="{FF2B5EF4-FFF2-40B4-BE49-F238E27FC236}">
                  <a16:creationId xmlns:a16="http://schemas.microsoft.com/office/drawing/2014/main" id="{442C646B-A087-4268-9509-6C65C73A8E84}"/>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3" name="iṩ1íḓê">
              <a:extLst>
                <a:ext uri="{FF2B5EF4-FFF2-40B4-BE49-F238E27FC236}">
                  <a16:creationId xmlns:a16="http://schemas.microsoft.com/office/drawing/2014/main" id="{8DBC8E60-18A3-4F47-9DD2-788A7F7CDF7B}"/>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4" name="ïşľïďé">
              <a:extLst>
                <a:ext uri="{FF2B5EF4-FFF2-40B4-BE49-F238E27FC236}">
                  <a16:creationId xmlns:a16="http://schemas.microsoft.com/office/drawing/2014/main" id="{D1AB07A3-CCA4-4A96-AF6D-B6CD8BF80565}"/>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5" name="ïśḷïḍê">
              <a:extLst>
                <a:ext uri="{FF2B5EF4-FFF2-40B4-BE49-F238E27FC236}">
                  <a16:creationId xmlns:a16="http://schemas.microsoft.com/office/drawing/2014/main" id="{9A895D17-0FF8-4F45-BE73-23265237206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6" name="ïṡḷíḑé">
              <a:extLst>
                <a:ext uri="{FF2B5EF4-FFF2-40B4-BE49-F238E27FC236}">
                  <a16:creationId xmlns:a16="http://schemas.microsoft.com/office/drawing/2014/main" id="{FA3BDB39-7CDC-483C-B75E-DACDEA812D0D}"/>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7" name="iśḻíde">
              <a:extLst>
                <a:ext uri="{FF2B5EF4-FFF2-40B4-BE49-F238E27FC236}">
                  <a16:creationId xmlns:a16="http://schemas.microsoft.com/office/drawing/2014/main" id="{0CD4B41B-5BB2-4E3F-BF59-08BBD8A259BB}"/>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8" name="í$ḻîdê">
              <a:extLst>
                <a:ext uri="{FF2B5EF4-FFF2-40B4-BE49-F238E27FC236}">
                  <a16:creationId xmlns:a16="http://schemas.microsoft.com/office/drawing/2014/main" id="{1D0FB94F-ADD5-4B17-874E-934617C96EF9}"/>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9" name="iṩḷídé">
              <a:extLst>
                <a:ext uri="{FF2B5EF4-FFF2-40B4-BE49-F238E27FC236}">
                  <a16:creationId xmlns:a16="http://schemas.microsoft.com/office/drawing/2014/main" id="{CDBF9F61-132A-4080-82BB-85FAED1C6BAD}"/>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0" name="iślíḓè">
              <a:extLst>
                <a:ext uri="{FF2B5EF4-FFF2-40B4-BE49-F238E27FC236}">
                  <a16:creationId xmlns:a16="http://schemas.microsoft.com/office/drawing/2014/main" id="{03638A0B-E613-4283-A3EC-77A39B0402B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1" name="îṥ1ïḋe">
              <a:extLst>
                <a:ext uri="{FF2B5EF4-FFF2-40B4-BE49-F238E27FC236}">
                  <a16:creationId xmlns:a16="http://schemas.microsoft.com/office/drawing/2014/main" id="{2B866E92-410F-493E-9736-BCB57AD1BF7B}"/>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2" name="iṧḷídè">
              <a:extLst>
                <a:ext uri="{FF2B5EF4-FFF2-40B4-BE49-F238E27FC236}">
                  <a16:creationId xmlns:a16="http://schemas.microsoft.com/office/drawing/2014/main" id="{1996A683-DCAD-4511-AE81-E8DE83E286D5}"/>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3" name="ïṩḷíḍé">
              <a:extLst>
                <a:ext uri="{FF2B5EF4-FFF2-40B4-BE49-F238E27FC236}">
                  <a16:creationId xmlns:a16="http://schemas.microsoft.com/office/drawing/2014/main" id="{023709A7-17C1-4DAA-B6A8-5FF05023656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4" name="ï$liḓê">
              <a:extLst>
                <a:ext uri="{FF2B5EF4-FFF2-40B4-BE49-F238E27FC236}">
                  <a16:creationId xmlns:a16="http://schemas.microsoft.com/office/drawing/2014/main" id="{6CD15305-6B70-4D88-B3F7-F9712358B781}"/>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5" name="iṩlidè">
              <a:extLst>
                <a:ext uri="{FF2B5EF4-FFF2-40B4-BE49-F238E27FC236}">
                  <a16:creationId xmlns:a16="http://schemas.microsoft.com/office/drawing/2014/main" id="{47492402-40B1-4F68-B34E-5D0FBD339690}"/>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6" name="íṧļîḓé">
              <a:extLst>
                <a:ext uri="{FF2B5EF4-FFF2-40B4-BE49-F238E27FC236}">
                  <a16:creationId xmlns:a16="http://schemas.microsoft.com/office/drawing/2014/main" id="{8964601F-7EF6-4445-B8B5-3A01279E1078}"/>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7" name="iṩḻîḑè">
              <a:extLst>
                <a:ext uri="{FF2B5EF4-FFF2-40B4-BE49-F238E27FC236}">
                  <a16:creationId xmlns:a16="http://schemas.microsoft.com/office/drawing/2014/main" id="{10A6475E-0564-4194-8F1E-0AAB788098D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8" name="ïṣľíḑé">
              <a:extLst>
                <a:ext uri="{FF2B5EF4-FFF2-40B4-BE49-F238E27FC236}">
                  <a16:creationId xmlns:a16="http://schemas.microsoft.com/office/drawing/2014/main" id="{AE4F291B-CBB3-4380-92DB-0E278BBDA6C0}"/>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9" name="îşḻîḑè">
              <a:extLst>
                <a:ext uri="{FF2B5EF4-FFF2-40B4-BE49-F238E27FC236}">
                  <a16:creationId xmlns:a16="http://schemas.microsoft.com/office/drawing/2014/main" id="{FDBC27AF-C6A8-4B4A-8E61-95E484D2FBE3}"/>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0" name="iṣḷiḓê">
              <a:extLst>
                <a:ext uri="{FF2B5EF4-FFF2-40B4-BE49-F238E27FC236}">
                  <a16:creationId xmlns:a16="http://schemas.microsoft.com/office/drawing/2014/main" id="{805642E9-F471-447D-B770-293687BC2974}"/>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1" name="işļídè">
              <a:extLst>
                <a:ext uri="{FF2B5EF4-FFF2-40B4-BE49-F238E27FC236}">
                  <a16:creationId xmlns:a16="http://schemas.microsoft.com/office/drawing/2014/main" id="{0C237F03-088E-4D62-8592-58FF78F61E8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grpSp>
      <p:sp>
        <p:nvSpPr>
          <p:cNvPr id="72" name="文本框 71">
            <a:extLst>
              <a:ext uri="{FF2B5EF4-FFF2-40B4-BE49-F238E27FC236}">
                <a16:creationId xmlns:a16="http://schemas.microsoft.com/office/drawing/2014/main" id="{F42728B2-0D4C-41BE-827B-06F39D1E6FC5}"/>
              </a:ext>
            </a:extLst>
          </p:cNvPr>
          <p:cNvSpPr txBox="1"/>
          <p:nvPr/>
        </p:nvSpPr>
        <p:spPr>
          <a:xfrm>
            <a:off x="3848600" y="84515"/>
            <a:ext cx="4750125" cy="461665"/>
          </a:xfrm>
          <a:prstGeom prst="rect">
            <a:avLst/>
          </a:prstGeom>
          <a:noFill/>
        </p:spPr>
        <p:txBody>
          <a:bodyPr wrap="square">
            <a:spAutoFit/>
          </a:bodyPr>
          <a:lstStyle/>
          <a:p>
            <a:pPr algn="ctr">
              <a:defRPr/>
            </a:pPr>
            <a:r>
              <a:rPr lang="zh-CN" altLang="en-US"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背景介绍</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83" name="图片 82">
            <a:extLst>
              <a:ext uri="{FF2B5EF4-FFF2-40B4-BE49-F238E27FC236}">
                <a16:creationId xmlns:a16="http://schemas.microsoft.com/office/drawing/2014/main" id="{34EB6C79-75B3-4245-8E46-A1D4F780D048}"/>
              </a:ext>
            </a:extLst>
          </p:cNvPr>
          <p:cNvPicPr>
            <a:picLocks noChangeAspect="1"/>
          </p:cNvPicPr>
          <p:nvPr/>
        </p:nvPicPr>
        <p:blipFill>
          <a:blip r:embed="rId3"/>
          <a:stretch>
            <a:fillRect/>
          </a:stretch>
        </p:blipFill>
        <p:spPr>
          <a:xfrm>
            <a:off x="277445" y="1304628"/>
            <a:ext cx="5839500" cy="3766944"/>
          </a:xfrm>
          <a:prstGeom prst="rect">
            <a:avLst/>
          </a:prstGeom>
        </p:spPr>
      </p:pic>
      <p:sp>
        <p:nvSpPr>
          <p:cNvPr id="84" name="文本框 83">
            <a:extLst>
              <a:ext uri="{FF2B5EF4-FFF2-40B4-BE49-F238E27FC236}">
                <a16:creationId xmlns:a16="http://schemas.microsoft.com/office/drawing/2014/main" id="{DA6F80E7-82C7-409E-96BE-B124CD9F84B2}"/>
              </a:ext>
            </a:extLst>
          </p:cNvPr>
          <p:cNvSpPr txBox="1"/>
          <p:nvPr/>
        </p:nvSpPr>
        <p:spPr>
          <a:xfrm>
            <a:off x="321412" y="840815"/>
            <a:ext cx="3024000" cy="307777"/>
          </a:xfrm>
          <a:prstGeom prst="rect">
            <a:avLst/>
          </a:prstGeom>
          <a:noFill/>
        </p:spPr>
        <p:txBody>
          <a:bodyPr wrap="square">
            <a:spAutoFit/>
          </a:bodyPr>
          <a:lstStyle/>
          <a:p>
            <a:pPr algn="just"/>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研究隐藏口袋的不同计算方法概述</a:t>
            </a:r>
            <a:endPar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5" name="文本框 84">
            <a:extLst>
              <a:ext uri="{FF2B5EF4-FFF2-40B4-BE49-F238E27FC236}">
                <a16:creationId xmlns:a16="http://schemas.microsoft.com/office/drawing/2014/main" id="{FD19B2B3-B8F6-4525-AE09-92A0F0E54483}"/>
              </a:ext>
            </a:extLst>
          </p:cNvPr>
          <p:cNvSpPr txBox="1"/>
          <p:nvPr/>
        </p:nvSpPr>
        <p:spPr>
          <a:xfrm>
            <a:off x="340688" y="5129903"/>
            <a:ext cx="6183236" cy="1346907"/>
          </a:xfrm>
          <a:prstGeom prst="rect">
            <a:avLst/>
          </a:prstGeom>
          <a:noFill/>
        </p:spPr>
        <p:txBody>
          <a:bodyPr wrap="square">
            <a:spAutoFit/>
          </a:bodyPr>
          <a:lstStyle/>
          <a:p>
            <a:pPr marL="285750" indent="-285750" algn="just">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计算成本高、采样时间长</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需要微秒级甚至更长的模拟，资源消耗大。</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构象采样受限：</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易陷入局部最小值，难捕捉大构象变化。</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方法可靠性与稳定性不足：</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存在探针聚集、力场不准及蛋白展开风险。</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口袋识别的间接性：</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偏置</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不聚焦口袋，仍依赖额外检测算法。</a:t>
            </a:r>
          </a:p>
        </p:txBody>
      </p:sp>
      <p:pic>
        <p:nvPicPr>
          <p:cNvPr id="86" name="图片 85">
            <a:extLst>
              <a:ext uri="{FF2B5EF4-FFF2-40B4-BE49-F238E27FC236}">
                <a16:creationId xmlns:a16="http://schemas.microsoft.com/office/drawing/2014/main" id="{0BE787A0-8092-4023-B2EA-614D5C6E2AE0}"/>
              </a:ext>
            </a:extLst>
          </p:cNvPr>
          <p:cNvPicPr>
            <a:picLocks noChangeAspect="1"/>
          </p:cNvPicPr>
          <p:nvPr/>
        </p:nvPicPr>
        <p:blipFill>
          <a:blip r:embed="rId4"/>
          <a:stretch>
            <a:fillRect/>
          </a:stretch>
        </p:blipFill>
        <p:spPr>
          <a:xfrm>
            <a:off x="7000327" y="1304628"/>
            <a:ext cx="4670974" cy="2188686"/>
          </a:xfrm>
          <a:prstGeom prst="rect">
            <a:avLst/>
          </a:prstGeom>
        </p:spPr>
      </p:pic>
      <p:sp>
        <p:nvSpPr>
          <p:cNvPr id="87" name="文本框 86">
            <a:extLst>
              <a:ext uri="{FF2B5EF4-FFF2-40B4-BE49-F238E27FC236}">
                <a16:creationId xmlns:a16="http://schemas.microsoft.com/office/drawing/2014/main" id="{A51A1F1D-5318-4ADB-AB0A-7A61686F48CE}"/>
              </a:ext>
            </a:extLst>
          </p:cNvPr>
          <p:cNvSpPr txBox="1"/>
          <p:nvPr/>
        </p:nvSpPr>
        <p:spPr>
          <a:xfrm>
            <a:off x="7056321" y="3716781"/>
            <a:ext cx="4670974" cy="2639569"/>
          </a:xfrm>
          <a:prstGeom prst="rect">
            <a:avLst/>
          </a:prstGeom>
          <a:noFill/>
        </p:spPr>
        <p:txBody>
          <a:bodyPr wrap="square">
            <a:spAutoFit/>
          </a:bodyPr>
          <a:lstStyle/>
          <a:p>
            <a:pPr lvl="0">
              <a:lnSpc>
                <a:spcPct val="150000"/>
              </a:lnSpc>
              <a:buSzPts val="1000"/>
              <a:tabLst>
                <a:tab pos="457200" algn="l"/>
              </a:tabLst>
            </a:pPr>
            <a:r>
              <a:rPr lang="en-US" altLang="zh-CN" sz="1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AI</a:t>
            </a:r>
            <a:r>
              <a:rPr lang="zh-CN" altLang="zh-CN" sz="1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多提供候选构象，真正发现仍依赖耗时</a:t>
            </a:r>
            <a:r>
              <a:rPr lang="en-US" altLang="zh-CN" sz="1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MD</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nSpc>
                <a:spcPct val="150000"/>
              </a:lnSpc>
              <a:buSzPts val="1000"/>
              <a:buFont typeface="Arial" panose="020B0604020202020204" pitchFamily="34" charset="0"/>
              <a:buChar char="•"/>
              <a:tabLst>
                <a:tab pos="457200" algn="l"/>
              </a:tabLst>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数据不足：</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训练数据有限且不平衡，模型表现受限。</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nSpc>
                <a:spcPct val="150000"/>
              </a:lnSpc>
              <a:buSzPts val="1000"/>
              <a:buFont typeface="Arial" panose="020B0604020202020204" pitchFamily="34" charset="0"/>
              <a:buChar char="•"/>
              <a:tabLst>
                <a:tab pos="457200" algn="l"/>
              </a:tabLst>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依赖</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AI</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预测结果仍需</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采样验证，难以独立完成。</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nSpc>
                <a:spcPct val="150000"/>
              </a:lnSpc>
              <a:buSzPts val="1000"/>
              <a:buFont typeface="Arial" panose="020B0604020202020204" pitchFamily="34" charset="0"/>
              <a:buChar char="•"/>
              <a:tabLst>
                <a:tab pos="457200" algn="l"/>
              </a:tabLst>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结构生成有限：</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等方法仅生成部分开放构象，需</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MD/MSM</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补充。</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nSpc>
                <a:spcPct val="150000"/>
              </a:lnSpc>
              <a:buSzPts val="1000"/>
              <a:buFont typeface="Arial" panose="020B0604020202020204" pitchFamily="34" charset="0"/>
              <a:buChar char="•"/>
              <a:tabLst>
                <a:tab pos="457200" algn="l"/>
              </a:tabLst>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方法早期探索：</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共同折叠（</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AF3</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NeuralPlexer</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）缺乏充分验证。</a:t>
            </a:r>
          </a:p>
        </p:txBody>
      </p:sp>
    </p:spTree>
    <p:extLst>
      <p:ext uri="{BB962C8B-B14F-4D97-AF65-F5344CB8AC3E}">
        <p14:creationId xmlns:p14="http://schemas.microsoft.com/office/powerpoint/2010/main" val="27232617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B41F271-A74D-4357-A142-7E403BD7998B}"/>
              </a:ext>
            </a:extLst>
          </p:cNvPr>
          <p:cNvSpPr>
            <a:spLocks noGrp="1"/>
          </p:cNvSpPr>
          <p:nvPr>
            <p:ph type="sldNum" sz="quarter" idx="12"/>
          </p:nvPr>
        </p:nvSpPr>
        <p:spPr/>
        <p:txBody>
          <a:bodyPr/>
          <a:lstStyle/>
          <a:p>
            <a:fld id="{CA71748E-C824-44A4-80B9-F8DE6AD98080}" type="slidenum">
              <a:rPr lang="zh-CN" altLang="en-US" smtClean="0"/>
              <a:pPr/>
              <a:t>4</a:t>
            </a:fld>
            <a:endParaRPr lang="zh-CN" altLang="en-US" dirty="0"/>
          </a:p>
        </p:txBody>
      </p:sp>
      <p:grpSp>
        <p:nvGrpSpPr>
          <p:cNvPr id="3" name="组合 2">
            <a:extLst>
              <a:ext uri="{FF2B5EF4-FFF2-40B4-BE49-F238E27FC236}">
                <a16:creationId xmlns:a16="http://schemas.microsoft.com/office/drawing/2014/main" id="{9E925BDD-DDF7-4E6C-83A5-F19F5A38DB55}"/>
              </a:ext>
            </a:extLst>
          </p:cNvPr>
          <p:cNvGrpSpPr/>
          <p:nvPr/>
        </p:nvGrpSpPr>
        <p:grpSpPr>
          <a:xfrm>
            <a:off x="10355228" y="40072"/>
            <a:ext cx="1725943" cy="563993"/>
            <a:chOff x="3302807" y="1034911"/>
            <a:chExt cx="2457878" cy="799669"/>
          </a:xfrm>
          <a:solidFill>
            <a:schemeClr val="bg1"/>
          </a:solidFill>
        </p:grpSpPr>
        <p:sp>
          <p:nvSpPr>
            <p:cNvPr id="4" name="íṡḷîḍê">
              <a:extLst>
                <a:ext uri="{FF2B5EF4-FFF2-40B4-BE49-F238E27FC236}">
                  <a16:creationId xmlns:a16="http://schemas.microsoft.com/office/drawing/2014/main" id="{B7DAB3D5-1E9D-497A-82FA-174CF2DA1B22}"/>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 name="íŝḻiḍè">
              <a:extLst>
                <a:ext uri="{FF2B5EF4-FFF2-40B4-BE49-F238E27FC236}">
                  <a16:creationId xmlns:a16="http://schemas.microsoft.com/office/drawing/2014/main" id="{3CD59F79-CA87-4AFC-91CD-6DC9AD869AB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 name="îS1iďê">
              <a:extLst>
                <a:ext uri="{FF2B5EF4-FFF2-40B4-BE49-F238E27FC236}">
                  <a16:creationId xmlns:a16="http://schemas.microsoft.com/office/drawing/2014/main" id="{D9082833-9A8D-451C-9E9B-A75F7EC9CE9C}"/>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 name="i$ḷíḓe">
              <a:extLst>
                <a:ext uri="{FF2B5EF4-FFF2-40B4-BE49-F238E27FC236}">
                  <a16:creationId xmlns:a16="http://schemas.microsoft.com/office/drawing/2014/main" id="{C2542898-AB5D-4DF1-AAEB-02702076BAF4}"/>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8" name="îş1íḍé">
              <a:extLst>
                <a:ext uri="{FF2B5EF4-FFF2-40B4-BE49-F238E27FC236}">
                  <a16:creationId xmlns:a16="http://schemas.microsoft.com/office/drawing/2014/main" id="{91681F7B-A9A6-4D02-ABA0-ABA321DABC32}"/>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9" name="išḻïde">
              <a:extLst>
                <a:ext uri="{FF2B5EF4-FFF2-40B4-BE49-F238E27FC236}">
                  <a16:creationId xmlns:a16="http://schemas.microsoft.com/office/drawing/2014/main" id="{513533E5-8338-4BE4-B223-47882EF7B57F}"/>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0" name="ís1ïḓè">
              <a:extLst>
                <a:ext uri="{FF2B5EF4-FFF2-40B4-BE49-F238E27FC236}">
                  <a16:creationId xmlns:a16="http://schemas.microsoft.com/office/drawing/2014/main" id="{323083E9-F55E-416E-BB30-2636637171D1}"/>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1" name="ïṩlïďê">
              <a:extLst>
                <a:ext uri="{FF2B5EF4-FFF2-40B4-BE49-F238E27FC236}">
                  <a16:creationId xmlns:a16="http://schemas.microsoft.com/office/drawing/2014/main" id="{ABE5637E-6234-4CB9-9033-3733C5BE4217}"/>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2" name="íSliḋê">
              <a:extLst>
                <a:ext uri="{FF2B5EF4-FFF2-40B4-BE49-F238E27FC236}">
                  <a16:creationId xmlns:a16="http://schemas.microsoft.com/office/drawing/2014/main" id="{0D1C8DA9-A6DB-4D51-8500-D03374A57319}"/>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3" name="ísļîdè">
              <a:extLst>
                <a:ext uri="{FF2B5EF4-FFF2-40B4-BE49-F238E27FC236}">
                  <a16:creationId xmlns:a16="http://schemas.microsoft.com/office/drawing/2014/main" id="{7CCB3B3D-53E1-4017-82B5-CF5A4DD6A3E0}"/>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4" name="îSlíḋé">
              <a:extLst>
                <a:ext uri="{FF2B5EF4-FFF2-40B4-BE49-F238E27FC236}">
                  <a16:creationId xmlns:a16="http://schemas.microsoft.com/office/drawing/2014/main" id="{9640B468-4C4F-4527-94BA-3ECC0D5372C8}"/>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5" name="íŝ1ïḓê">
              <a:extLst>
                <a:ext uri="{FF2B5EF4-FFF2-40B4-BE49-F238E27FC236}">
                  <a16:creationId xmlns:a16="http://schemas.microsoft.com/office/drawing/2014/main" id="{F58668AD-D100-4F49-8DA3-41B80F92BDEB}"/>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6" name="ï$ľíḑè">
              <a:extLst>
                <a:ext uri="{FF2B5EF4-FFF2-40B4-BE49-F238E27FC236}">
                  <a16:creationId xmlns:a16="http://schemas.microsoft.com/office/drawing/2014/main" id="{8EE84E50-2307-4E87-BB9E-DECBD53EFF21}"/>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7" name="ïṧ1íḓè">
              <a:extLst>
                <a:ext uri="{FF2B5EF4-FFF2-40B4-BE49-F238E27FC236}">
                  <a16:creationId xmlns:a16="http://schemas.microsoft.com/office/drawing/2014/main" id="{54FE914B-3908-4F69-9331-FC960FC421AC}"/>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8" name="işļïḑê">
              <a:extLst>
                <a:ext uri="{FF2B5EF4-FFF2-40B4-BE49-F238E27FC236}">
                  <a16:creationId xmlns:a16="http://schemas.microsoft.com/office/drawing/2014/main" id="{8DEEFCB4-6139-4C4A-8E87-848236672B5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9" name="îŝ1îdé">
              <a:extLst>
                <a:ext uri="{FF2B5EF4-FFF2-40B4-BE49-F238E27FC236}">
                  <a16:creationId xmlns:a16="http://schemas.microsoft.com/office/drawing/2014/main" id="{92784CEC-2275-46F5-8A68-45B0AE589D81}"/>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0" name="iṩlîḍe">
              <a:extLst>
                <a:ext uri="{FF2B5EF4-FFF2-40B4-BE49-F238E27FC236}">
                  <a16:creationId xmlns:a16="http://schemas.microsoft.com/office/drawing/2014/main" id="{C8A26868-88A0-4507-A5D8-E138E3D9B4A8}"/>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1" name="ïṣlíḋe">
              <a:extLst>
                <a:ext uri="{FF2B5EF4-FFF2-40B4-BE49-F238E27FC236}">
                  <a16:creationId xmlns:a16="http://schemas.microsoft.com/office/drawing/2014/main" id="{0AF089DF-EF6B-4ADE-A326-19A7C439838B}"/>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2" name="ísļiďè">
              <a:extLst>
                <a:ext uri="{FF2B5EF4-FFF2-40B4-BE49-F238E27FC236}">
                  <a16:creationId xmlns:a16="http://schemas.microsoft.com/office/drawing/2014/main" id="{6E7E66AA-024D-4CBF-AD28-F3D7BBA1DC9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3" name="íṡlïde">
              <a:extLst>
                <a:ext uri="{FF2B5EF4-FFF2-40B4-BE49-F238E27FC236}">
                  <a16:creationId xmlns:a16="http://schemas.microsoft.com/office/drawing/2014/main" id="{58D526EB-CA35-4501-A071-BE8EE8401D9B}"/>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4" name="iṩlide">
              <a:extLst>
                <a:ext uri="{FF2B5EF4-FFF2-40B4-BE49-F238E27FC236}">
                  <a16:creationId xmlns:a16="http://schemas.microsoft.com/office/drawing/2014/main" id="{DAD20913-237F-4A14-8CED-12F9DB2C90C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5" name="îs1ïde">
              <a:extLst>
                <a:ext uri="{FF2B5EF4-FFF2-40B4-BE49-F238E27FC236}">
                  <a16:creationId xmlns:a16="http://schemas.microsoft.com/office/drawing/2014/main" id="{AF9D7022-ACC7-4272-B4B9-3205C319BF2C}"/>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6" name="i$ľïḑe">
              <a:extLst>
                <a:ext uri="{FF2B5EF4-FFF2-40B4-BE49-F238E27FC236}">
                  <a16:creationId xmlns:a16="http://schemas.microsoft.com/office/drawing/2014/main" id="{AC79B310-6ED8-4948-8FCB-12535517E453}"/>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7" name="iŝļíḍè">
              <a:extLst>
                <a:ext uri="{FF2B5EF4-FFF2-40B4-BE49-F238E27FC236}">
                  <a16:creationId xmlns:a16="http://schemas.microsoft.com/office/drawing/2014/main" id="{B49FD3D8-8A07-4672-8C50-DA8225DC1B6D}"/>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8" name="íṩḻîḋê">
              <a:extLst>
                <a:ext uri="{FF2B5EF4-FFF2-40B4-BE49-F238E27FC236}">
                  <a16:creationId xmlns:a16="http://schemas.microsoft.com/office/drawing/2014/main" id="{D64673D0-AE6B-4CA7-B808-1C4131186FEC}"/>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9" name="íṡľiḑê">
              <a:extLst>
                <a:ext uri="{FF2B5EF4-FFF2-40B4-BE49-F238E27FC236}">
                  <a16:creationId xmlns:a16="http://schemas.microsoft.com/office/drawing/2014/main" id="{177286FE-A4B8-4D0F-9322-BD39685A7D1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0" name="iṥļiḓe">
              <a:extLst>
                <a:ext uri="{FF2B5EF4-FFF2-40B4-BE49-F238E27FC236}">
                  <a16:creationId xmlns:a16="http://schemas.microsoft.com/office/drawing/2014/main" id="{198A164A-9A98-4B59-8AA7-143B9D8D8C5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1" name="iŝ1îḋé">
              <a:extLst>
                <a:ext uri="{FF2B5EF4-FFF2-40B4-BE49-F238E27FC236}">
                  <a16:creationId xmlns:a16="http://schemas.microsoft.com/office/drawing/2014/main" id="{26C0001B-30DE-4E60-954C-9BDAA20BBC4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2" name="iṩḷiḓè">
              <a:extLst>
                <a:ext uri="{FF2B5EF4-FFF2-40B4-BE49-F238E27FC236}">
                  <a16:creationId xmlns:a16="http://schemas.microsoft.com/office/drawing/2014/main" id="{E8C0F229-7C1A-415B-ADDA-3E0BC71EC006}"/>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3" name="îṥ1ïďé">
              <a:extLst>
                <a:ext uri="{FF2B5EF4-FFF2-40B4-BE49-F238E27FC236}">
                  <a16:creationId xmlns:a16="http://schemas.microsoft.com/office/drawing/2014/main" id="{962C5FFF-22F0-49E5-B883-A585E928C22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4" name="iSḷiḍé">
              <a:extLst>
                <a:ext uri="{FF2B5EF4-FFF2-40B4-BE49-F238E27FC236}">
                  <a16:creationId xmlns:a16="http://schemas.microsoft.com/office/drawing/2014/main" id="{532DA388-DA31-49F4-9D03-4CB631CB06F1}"/>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5" name="îşļíďê">
              <a:extLst>
                <a:ext uri="{FF2B5EF4-FFF2-40B4-BE49-F238E27FC236}">
                  <a16:creationId xmlns:a16="http://schemas.microsoft.com/office/drawing/2014/main" id="{F5472015-6FB1-4811-A13E-8298A61D318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6" name="îš1íḍê">
              <a:extLst>
                <a:ext uri="{FF2B5EF4-FFF2-40B4-BE49-F238E27FC236}">
                  <a16:creationId xmlns:a16="http://schemas.microsoft.com/office/drawing/2014/main" id="{9385DB0A-5A3C-4F15-9C2D-5E2ABB70F3E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7" name="íŝliḓê">
              <a:extLst>
                <a:ext uri="{FF2B5EF4-FFF2-40B4-BE49-F238E27FC236}">
                  <a16:creationId xmlns:a16="http://schemas.microsoft.com/office/drawing/2014/main" id="{FFB97CBD-70FA-457A-9F5F-F1069CE476EF}"/>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8" name="iṡļiḍe">
              <a:extLst>
                <a:ext uri="{FF2B5EF4-FFF2-40B4-BE49-F238E27FC236}">
                  <a16:creationId xmlns:a16="http://schemas.microsoft.com/office/drawing/2014/main" id="{A9C25906-236A-4EEF-A6C6-FC45C14A17E1}"/>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9" name="ï$ļïdé">
              <a:extLst>
                <a:ext uri="{FF2B5EF4-FFF2-40B4-BE49-F238E27FC236}">
                  <a16:creationId xmlns:a16="http://schemas.microsoft.com/office/drawing/2014/main" id="{D71BD8C1-7099-4D6D-AF5F-DF4971707CD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0" name="íšlíḓe">
              <a:extLst>
                <a:ext uri="{FF2B5EF4-FFF2-40B4-BE49-F238E27FC236}">
                  <a16:creationId xmlns:a16="http://schemas.microsoft.com/office/drawing/2014/main" id="{B3EE0E0C-7E27-4BF7-BCBC-F3271B42F25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1" name="ïṣļïḍê">
              <a:extLst>
                <a:ext uri="{FF2B5EF4-FFF2-40B4-BE49-F238E27FC236}">
                  <a16:creationId xmlns:a16="http://schemas.microsoft.com/office/drawing/2014/main" id="{E4534144-B554-4403-9A06-421DB972E96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2" name="ís1íḍe">
              <a:extLst>
                <a:ext uri="{FF2B5EF4-FFF2-40B4-BE49-F238E27FC236}">
                  <a16:creationId xmlns:a16="http://schemas.microsoft.com/office/drawing/2014/main" id="{1472B056-8AFF-4449-AA55-ECE25AACF595}"/>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3" name="íşlïḋe">
              <a:extLst>
                <a:ext uri="{FF2B5EF4-FFF2-40B4-BE49-F238E27FC236}">
                  <a16:creationId xmlns:a16="http://schemas.microsoft.com/office/drawing/2014/main" id="{7D8A04DB-C591-4E85-89D8-04A430C381E8}"/>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4" name="iŝļîḍé">
              <a:extLst>
                <a:ext uri="{FF2B5EF4-FFF2-40B4-BE49-F238E27FC236}">
                  <a16:creationId xmlns:a16="http://schemas.microsoft.com/office/drawing/2014/main" id="{2D8480CD-606A-4BA9-8EFF-19D2566CCD8D}"/>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5" name="íṧḷídé">
              <a:extLst>
                <a:ext uri="{FF2B5EF4-FFF2-40B4-BE49-F238E27FC236}">
                  <a16:creationId xmlns:a16="http://schemas.microsoft.com/office/drawing/2014/main" id="{E9C5F1D9-5889-4FF8-9CD5-F08238743ED8}"/>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6" name="îSḻiḋe">
              <a:extLst>
                <a:ext uri="{FF2B5EF4-FFF2-40B4-BE49-F238E27FC236}">
                  <a16:creationId xmlns:a16="http://schemas.microsoft.com/office/drawing/2014/main" id="{72355679-4F3A-46F4-A1D7-A4D95C62C24C}"/>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7" name="í$ḻîḓè">
              <a:extLst>
                <a:ext uri="{FF2B5EF4-FFF2-40B4-BE49-F238E27FC236}">
                  <a16:creationId xmlns:a16="http://schemas.microsoft.com/office/drawing/2014/main" id="{0D62BB02-4635-447A-B78F-48138FF0B952}"/>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8" name="ïŝḷíḍe">
              <a:extLst>
                <a:ext uri="{FF2B5EF4-FFF2-40B4-BE49-F238E27FC236}">
                  <a16:creationId xmlns:a16="http://schemas.microsoft.com/office/drawing/2014/main" id="{C6FC2748-B6CD-4438-B252-1F76FB6B970D}"/>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9" name="íṩļiḋe">
              <a:extLst>
                <a:ext uri="{FF2B5EF4-FFF2-40B4-BE49-F238E27FC236}">
                  <a16:creationId xmlns:a16="http://schemas.microsoft.com/office/drawing/2014/main" id="{87CB755A-C3F8-4096-837D-49EA5A9329B0}"/>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0" name="îṡlïḍé">
              <a:extLst>
                <a:ext uri="{FF2B5EF4-FFF2-40B4-BE49-F238E27FC236}">
                  <a16:creationId xmlns:a16="http://schemas.microsoft.com/office/drawing/2014/main" id="{E93EA309-2F07-4C3F-A2E3-C203B3C115D0}"/>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1" name="iS1îḓè">
              <a:extLst>
                <a:ext uri="{FF2B5EF4-FFF2-40B4-BE49-F238E27FC236}">
                  <a16:creationId xmlns:a16="http://schemas.microsoft.com/office/drawing/2014/main" id="{C7E65CBF-B551-4358-8D74-339CF7743DD3}"/>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2" name="íṡḷiḑê">
              <a:extLst>
                <a:ext uri="{FF2B5EF4-FFF2-40B4-BE49-F238E27FC236}">
                  <a16:creationId xmlns:a16="http://schemas.microsoft.com/office/drawing/2014/main" id="{442C646B-A087-4268-9509-6C65C73A8E84}"/>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3" name="iṩ1íḓê">
              <a:extLst>
                <a:ext uri="{FF2B5EF4-FFF2-40B4-BE49-F238E27FC236}">
                  <a16:creationId xmlns:a16="http://schemas.microsoft.com/office/drawing/2014/main" id="{8DBC8E60-18A3-4F47-9DD2-788A7F7CDF7B}"/>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4" name="ïşľïďé">
              <a:extLst>
                <a:ext uri="{FF2B5EF4-FFF2-40B4-BE49-F238E27FC236}">
                  <a16:creationId xmlns:a16="http://schemas.microsoft.com/office/drawing/2014/main" id="{D1AB07A3-CCA4-4A96-AF6D-B6CD8BF80565}"/>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5" name="ïśḷïḍê">
              <a:extLst>
                <a:ext uri="{FF2B5EF4-FFF2-40B4-BE49-F238E27FC236}">
                  <a16:creationId xmlns:a16="http://schemas.microsoft.com/office/drawing/2014/main" id="{9A895D17-0FF8-4F45-BE73-23265237206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6" name="ïṡḷíḑé">
              <a:extLst>
                <a:ext uri="{FF2B5EF4-FFF2-40B4-BE49-F238E27FC236}">
                  <a16:creationId xmlns:a16="http://schemas.microsoft.com/office/drawing/2014/main" id="{FA3BDB39-7CDC-483C-B75E-DACDEA812D0D}"/>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7" name="iśḻíde">
              <a:extLst>
                <a:ext uri="{FF2B5EF4-FFF2-40B4-BE49-F238E27FC236}">
                  <a16:creationId xmlns:a16="http://schemas.microsoft.com/office/drawing/2014/main" id="{0CD4B41B-5BB2-4E3F-BF59-08BBD8A259BB}"/>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8" name="í$ḻîdê">
              <a:extLst>
                <a:ext uri="{FF2B5EF4-FFF2-40B4-BE49-F238E27FC236}">
                  <a16:creationId xmlns:a16="http://schemas.microsoft.com/office/drawing/2014/main" id="{1D0FB94F-ADD5-4B17-874E-934617C96EF9}"/>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9" name="iṩḷídé">
              <a:extLst>
                <a:ext uri="{FF2B5EF4-FFF2-40B4-BE49-F238E27FC236}">
                  <a16:creationId xmlns:a16="http://schemas.microsoft.com/office/drawing/2014/main" id="{CDBF9F61-132A-4080-82BB-85FAED1C6BAD}"/>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0" name="iślíḓè">
              <a:extLst>
                <a:ext uri="{FF2B5EF4-FFF2-40B4-BE49-F238E27FC236}">
                  <a16:creationId xmlns:a16="http://schemas.microsoft.com/office/drawing/2014/main" id="{03638A0B-E613-4283-A3EC-77A39B0402B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1" name="îṥ1ïḋe">
              <a:extLst>
                <a:ext uri="{FF2B5EF4-FFF2-40B4-BE49-F238E27FC236}">
                  <a16:creationId xmlns:a16="http://schemas.microsoft.com/office/drawing/2014/main" id="{2B866E92-410F-493E-9736-BCB57AD1BF7B}"/>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2" name="iṧḷídè">
              <a:extLst>
                <a:ext uri="{FF2B5EF4-FFF2-40B4-BE49-F238E27FC236}">
                  <a16:creationId xmlns:a16="http://schemas.microsoft.com/office/drawing/2014/main" id="{1996A683-DCAD-4511-AE81-E8DE83E286D5}"/>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3" name="ïṩḷíḍé">
              <a:extLst>
                <a:ext uri="{FF2B5EF4-FFF2-40B4-BE49-F238E27FC236}">
                  <a16:creationId xmlns:a16="http://schemas.microsoft.com/office/drawing/2014/main" id="{023709A7-17C1-4DAA-B6A8-5FF05023656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4" name="ï$liḓê">
              <a:extLst>
                <a:ext uri="{FF2B5EF4-FFF2-40B4-BE49-F238E27FC236}">
                  <a16:creationId xmlns:a16="http://schemas.microsoft.com/office/drawing/2014/main" id="{6CD15305-6B70-4D88-B3F7-F9712358B781}"/>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5" name="iṩlidè">
              <a:extLst>
                <a:ext uri="{FF2B5EF4-FFF2-40B4-BE49-F238E27FC236}">
                  <a16:creationId xmlns:a16="http://schemas.microsoft.com/office/drawing/2014/main" id="{47492402-40B1-4F68-B34E-5D0FBD339690}"/>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6" name="íṧļîḓé">
              <a:extLst>
                <a:ext uri="{FF2B5EF4-FFF2-40B4-BE49-F238E27FC236}">
                  <a16:creationId xmlns:a16="http://schemas.microsoft.com/office/drawing/2014/main" id="{8964601F-7EF6-4445-B8B5-3A01279E1078}"/>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7" name="iṩḻîḑè">
              <a:extLst>
                <a:ext uri="{FF2B5EF4-FFF2-40B4-BE49-F238E27FC236}">
                  <a16:creationId xmlns:a16="http://schemas.microsoft.com/office/drawing/2014/main" id="{10A6475E-0564-4194-8F1E-0AAB788098D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8" name="ïṣľíḑé">
              <a:extLst>
                <a:ext uri="{FF2B5EF4-FFF2-40B4-BE49-F238E27FC236}">
                  <a16:creationId xmlns:a16="http://schemas.microsoft.com/office/drawing/2014/main" id="{AE4F291B-CBB3-4380-92DB-0E278BBDA6C0}"/>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9" name="îşḻîḑè">
              <a:extLst>
                <a:ext uri="{FF2B5EF4-FFF2-40B4-BE49-F238E27FC236}">
                  <a16:creationId xmlns:a16="http://schemas.microsoft.com/office/drawing/2014/main" id="{FDBC27AF-C6A8-4B4A-8E61-95E484D2FBE3}"/>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0" name="iṣḷiḓê">
              <a:extLst>
                <a:ext uri="{FF2B5EF4-FFF2-40B4-BE49-F238E27FC236}">
                  <a16:creationId xmlns:a16="http://schemas.microsoft.com/office/drawing/2014/main" id="{805642E9-F471-447D-B770-293687BC2974}"/>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1" name="işļídè">
              <a:extLst>
                <a:ext uri="{FF2B5EF4-FFF2-40B4-BE49-F238E27FC236}">
                  <a16:creationId xmlns:a16="http://schemas.microsoft.com/office/drawing/2014/main" id="{0C237F03-088E-4D62-8592-58FF78F61E8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grpSp>
      <p:sp>
        <p:nvSpPr>
          <p:cNvPr id="72" name="文本框 71">
            <a:extLst>
              <a:ext uri="{FF2B5EF4-FFF2-40B4-BE49-F238E27FC236}">
                <a16:creationId xmlns:a16="http://schemas.microsoft.com/office/drawing/2014/main" id="{F42728B2-0D4C-41BE-827B-06F39D1E6FC5}"/>
              </a:ext>
            </a:extLst>
          </p:cNvPr>
          <p:cNvSpPr txBox="1"/>
          <p:nvPr/>
        </p:nvSpPr>
        <p:spPr>
          <a:xfrm>
            <a:off x="3848600" y="84515"/>
            <a:ext cx="4750125" cy="461665"/>
          </a:xfrm>
          <a:prstGeom prst="rect">
            <a:avLst/>
          </a:prstGeom>
          <a:noFill/>
        </p:spPr>
        <p:txBody>
          <a:bodyPr wrap="square">
            <a:spAutoFit/>
          </a:bodyPr>
          <a:lstStyle/>
          <a:p>
            <a:pPr algn="ctr">
              <a:defRPr/>
            </a:pPr>
            <a:r>
              <a:rPr lang="zh-CN" altLang="en-US"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课题框架</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3" name="图片 72">
            <a:extLst>
              <a:ext uri="{FF2B5EF4-FFF2-40B4-BE49-F238E27FC236}">
                <a16:creationId xmlns:a16="http://schemas.microsoft.com/office/drawing/2014/main" id="{CA676373-B396-4B9A-BDCE-F03B3D51644F}"/>
              </a:ext>
            </a:extLst>
          </p:cNvPr>
          <p:cNvPicPr>
            <a:picLocks noChangeAspect="1"/>
          </p:cNvPicPr>
          <p:nvPr/>
        </p:nvPicPr>
        <p:blipFill>
          <a:blip r:embed="rId3"/>
          <a:stretch>
            <a:fillRect/>
          </a:stretch>
        </p:blipFill>
        <p:spPr>
          <a:xfrm>
            <a:off x="7898422" y="4043386"/>
            <a:ext cx="4135812" cy="1541952"/>
          </a:xfrm>
          <a:prstGeom prst="rect">
            <a:avLst/>
          </a:prstGeom>
        </p:spPr>
      </p:pic>
      <p:pic>
        <p:nvPicPr>
          <p:cNvPr id="74" name="图片 73">
            <a:extLst>
              <a:ext uri="{FF2B5EF4-FFF2-40B4-BE49-F238E27FC236}">
                <a16:creationId xmlns:a16="http://schemas.microsoft.com/office/drawing/2014/main" id="{EFCF5AD0-7182-4AE0-9CE4-F6AF5DEC7FEC}"/>
              </a:ext>
            </a:extLst>
          </p:cNvPr>
          <p:cNvPicPr>
            <a:picLocks noChangeAspect="1"/>
          </p:cNvPicPr>
          <p:nvPr/>
        </p:nvPicPr>
        <p:blipFill>
          <a:blip r:embed="rId4"/>
          <a:stretch>
            <a:fillRect/>
          </a:stretch>
        </p:blipFill>
        <p:spPr>
          <a:xfrm>
            <a:off x="4336627" y="1440989"/>
            <a:ext cx="6719994" cy="1608060"/>
          </a:xfrm>
          <a:prstGeom prst="rect">
            <a:avLst/>
          </a:prstGeom>
        </p:spPr>
      </p:pic>
      <p:pic>
        <p:nvPicPr>
          <p:cNvPr id="75" name="图片 74">
            <a:extLst>
              <a:ext uri="{FF2B5EF4-FFF2-40B4-BE49-F238E27FC236}">
                <a16:creationId xmlns:a16="http://schemas.microsoft.com/office/drawing/2014/main" id="{1A8BDA1E-C3E1-4505-8DE0-FA94AC3AD0F3}"/>
              </a:ext>
            </a:extLst>
          </p:cNvPr>
          <p:cNvPicPr>
            <a:picLocks noChangeAspect="1"/>
          </p:cNvPicPr>
          <p:nvPr/>
        </p:nvPicPr>
        <p:blipFill>
          <a:blip r:embed="rId5"/>
          <a:stretch>
            <a:fillRect/>
          </a:stretch>
        </p:blipFill>
        <p:spPr>
          <a:xfrm>
            <a:off x="93403" y="1173797"/>
            <a:ext cx="3535682" cy="2100142"/>
          </a:xfrm>
          <a:prstGeom prst="rect">
            <a:avLst/>
          </a:prstGeom>
        </p:spPr>
      </p:pic>
      <p:sp>
        <p:nvSpPr>
          <p:cNvPr id="76" name="文本框 75">
            <a:extLst>
              <a:ext uri="{FF2B5EF4-FFF2-40B4-BE49-F238E27FC236}">
                <a16:creationId xmlns:a16="http://schemas.microsoft.com/office/drawing/2014/main" id="{DC964D96-F607-454C-A740-3454D85C1B1D}"/>
              </a:ext>
            </a:extLst>
          </p:cNvPr>
          <p:cNvSpPr txBox="1"/>
          <p:nvPr/>
        </p:nvSpPr>
        <p:spPr>
          <a:xfrm>
            <a:off x="3048205" y="4043386"/>
            <a:ext cx="5095822" cy="2585323"/>
          </a:xfrm>
          <a:prstGeom prst="rect">
            <a:avLst/>
          </a:prstGeom>
          <a:noFill/>
        </p:spPr>
        <p:txBody>
          <a:bodyPr wrap="square">
            <a:spAutoFit/>
          </a:bodyPr>
          <a:lstStyle/>
          <a:p>
            <a:r>
              <a:rPr lang="en-US" altLang="zh-CN" sz="1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GNN</a:t>
            </a:r>
            <a:r>
              <a:rPr lang="zh-CN" altLang="zh-CN" sz="1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识别关键残基结合</a:t>
            </a:r>
            <a:r>
              <a:rPr lang="en-US" altLang="zh-CN" sz="1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AF+MD</a:t>
            </a:r>
            <a:r>
              <a:rPr lang="zh-CN" altLang="zh-CN" sz="1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揭示隐藏口袋并驱动药物设计</a:t>
            </a:r>
            <a:endParaRPr lang="en-US" altLang="zh-CN" sz="1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构建数据集</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：收集已知变构靶点，建立隐藏口袋构象集合</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关键残基识别</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：训练</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GNN </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模型定位</a:t>
            </a:r>
            <a:r>
              <a:rPr lang="zh-CN" altLang="en-US"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关键</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残基</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构象预测</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：利用</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fine tune MSA for AF </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生成偏好构象</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动力学采样</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：以偏好构象为起点开展</a:t>
            </a:r>
            <a:r>
              <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MD</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，监测口袋开启</a:t>
            </a:r>
            <a:endParaRPr lang="en-US"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药物设计</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：基于生成构象开展</a:t>
            </a:r>
            <a:r>
              <a:rPr lang="zh-CN" altLang="en-US"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基于</a:t>
            </a:r>
            <a:r>
              <a:rPr lang="zh-CN" altLang="zh-CN" sz="14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结构的药物设计流程</a:t>
            </a:r>
          </a:p>
          <a:p>
            <a:endParaRPr lang="zh-CN" altLang="zh-CN" sz="1800" kern="100" dirty="0">
              <a:effectLst/>
              <a:latin typeface="Times New Roman" panose="02020603050405020304" pitchFamily="18" charset="0"/>
              <a:ea typeface="仿宋" panose="02010609060101010101" pitchFamily="49" charset="-122"/>
            </a:endParaRPr>
          </a:p>
          <a:p>
            <a:endParaRPr lang="zh-CN" altLang="en-US" sz="1100" dirty="0"/>
          </a:p>
        </p:txBody>
      </p:sp>
      <p:pic>
        <p:nvPicPr>
          <p:cNvPr id="77" name="New picture">
            <a:extLst>
              <a:ext uri="{FF2B5EF4-FFF2-40B4-BE49-F238E27FC236}">
                <a16:creationId xmlns:a16="http://schemas.microsoft.com/office/drawing/2014/main" id="{C7567640-3A11-474D-AE92-A250A235426A}"/>
              </a:ext>
            </a:extLst>
          </p:cNvPr>
          <p:cNvPicPr/>
          <p:nvPr/>
        </p:nvPicPr>
        <p:blipFill>
          <a:blip r:embed="rId6"/>
          <a:stretch>
            <a:fillRect/>
          </a:stretch>
        </p:blipFill>
        <p:spPr>
          <a:xfrm>
            <a:off x="460250" y="4126517"/>
            <a:ext cx="2356154" cy="1696304"/>
          </a:xfrm>
          <a:prstGeom prst="rect">
            <a:avLst/>
          </a:prstGeom>
        </p:spPr>
      </p:pic>
      <p:sp>
        <p:nvSpPr>
          <p:cNvPr id="78" name="文本框 77">
            <a:extLst>
              <a:ext uri="{FF2B5EF4-FFF2-40B4-BE49-F238E27FC236}">
                <a16:creationId xmlns:a16="http://schemas.microsoft.com/office/drawing/2014/main" id="{64D1ED6A-FDEB-4CE1-ACA7-9BFC0218DDA0}"/>
              </a:ext>
            </a:extLst>
          </p:cNvPr>
          <p:cNvSpPr txBox="1"/>
          <p:nvPr/>
        </p:nvSpPr>
        <p:spPr>
          <a:xfrm>
            <a:off x="2163028" y="894412"/>
            <a:ext cx="8185457" cy="369332"/>
          </a:xfrm>
          <a:prstGeom prst="rect">
            <a:avLst/>
          </a:prstGeom>
          <a:noFill/>
        </p:spPr>
        <p:txBody>
          <a:bodyPr wrap="square">
            <a:spAutoFit/>
          </a:bodyPr>
          <a:lstStyle/>
          <a:p>
            <a:pPr algn="ctr"/>
            <a:r>
              <a:rPr lang="en-US" altLang="zh-CN"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Cryptic Allosteric Pocket Holo-like Structure </a:t>
            </a:r>
            <a:endPar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9" name="文本框 78">
            <a:extLst>
              <a:ext uri="{FF2B5EF4-FFF2-40B4-BE49-F238E27FC236}">
                <a16:creationId xmlns:a16="http://schemas.microsoft.com/office/drawing/2014/main" id="{56F4F3C9-AB0C-4CFF-971F-66B72258DCD2}"/>
              </a:ext>
            </a:extLst>
          </p:cNvPr>
          <p:cNvSpPr txBox="1"/>
          <p:nvPr/>
        </p:nvSpPr>
        <p:spPr>
          <a:xfrm>
            <a:off x="280031" y="6202388"/>
            <a:ext cx="2944245" cy="307777"/>
          </a:xfrm>
          <a:prstGeom prst="rect">
            <a:avLst/>
          </a:prstGeom>
          <a:noFill/>
        </p:spPr>
        <p:txBody>
          <a:bodyPr wrap="square">
            <a:spAutoFit/>
          </a:bodyPr>
          <a:lstStyle/>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构建隐藏变构口袋蛋白构象集合</a:t>
            </a:r>
          </a:p>
        </p:txBody>
      </p:sp>
      <p:sp>
        <p:nvSpPr>
          <p:cNvPr id="80" name="文本框 79">
            <a:extLst>
              <a:ext uri="{FF2B5EF4-FFF2-40B4-BE49-F238E27FC236}">
                <a16:creationId xmlns:a16="http://schemas.microsoft.com/office/drawing/2014/main" id="{38210C8F-A400-427E-8FB4-CFDBF4C33741}"/>
              </a:ext>
            </a:extLst>
          </p:cNvPr>
          <p:cNvSpPr txBox="1"/>
          <p:nvPr/>
        </p:nvSpPr>
        <p:spPr>
          <a:xfrm>
            <a:off x="328878" y="3391937"/>
            <a:ext cx="2744392" cy="307777"/>
          </a:xfrm>
          <a:prstGeom prst="rect">
            <a:avLst/>
          </a:prstGeom>
          <a:noFill/>
        </p:spPr>
        <p:txBody>
          <a:bodyPr wrap="square">
            <a:spAutoFit/>
          </a:bodyPr>
          <a:lstStyle/>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训练</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GNN</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模型锁定关键残基</a:t>
            </a:r>
          </a:p>
        </p:txBody>
      </p:sp>
      <p:sp>
        <p:nvSpPr>
          <p:cNvPr id="81" name="文本框 80">
            <a:extLst>
              <a:ext uri="{FF2B5EF4-FFF2-40B4-BE49-F238E27FC236}">
                <a16:creationId xmlns:a16="http://schemas.microsoft.com/office/drawing/2014/main" id="{0B4D27B0-F06F-442A-A356-FD5724284194}"/>
              </a:ext>
            </a:extLst>
          </p:cNvPr>
          <p:cNvSpPr txBox="1"/>
          <p:nvPr/>
        </p:nvSpPr>
        <p:spPr>
          <a:xfrm>
            <a:off x="5645022" y="3167390"/>
            <a:ext cx="4775027" cy="523220"/>
          </a:xfrm>
          <a:prstGeom prst="rect">
            <a:avLst/>
          </a:prstGeom>
          <a:noFill/>
        </p:spPr>
        <p:txBody>
          <a:bodyPr wrap="square">
            <a:spAutoFit/>
          </a:bodyPr>
          <a:lstStyle/>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处理</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框架下的</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Multiple Sequence Alignment (MSA)</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预测锁定关键残基形成隐藏口袋的偏好构象集合</a:t>
            </a:r>
          </a:p>
        </p:txBody>
      </p:sp>
      <p:sp>
        <p:nvSpPr>
          <p:cNvPr id="82" name="文本框 81">
            <a:extLst>
              <a:ext uri="{FF2B5EF4-FFF2-40B4-BE49-F238E27FC236}">
                <a16:creationId xmlns:a16="http://schemas.microsoft.com/office/drawing/2014/main" id="{CD01BCB9-6A1E-441C-A305-26BAF374454A}"/>
              </a:ext>
            </a:extLst>
          </p:cNvPr>
          <p:cNvSpPr txBox="1"/>
          <p:nvPr/>
        </p:nvSpPr>
        <p:spPr>
          <a:xfrm>
            <a:off x="8312229" y="5833057"/>
            <a:ext cx="3677861" cy="523220"/>
          </a:xfrm>
          <a:prstGeom prst="rect">
            <a:avLst/>
          </a:prstGeom>
          <a:noFill/>
        </p:spPr>
        <p:txBody>
          <a:bodyPr wrap="square">
            <a:spAutoFit/>
          </a:bodyPr>
          <a:lstStyle/>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挑选候选偏好构象作为</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的初始起点</a:t>
            </a:r>
            <a:endPar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基于结构的药物设计</a:t>
            </a:r>
          </a:p>
        </p:txBody>
      </p:sp>
    </p:spTree>
    <p:extLst>
      <p:ext uri="{BB962C8B-B14F-4D97-AF65-F5344CB8AC3E}">
        <p14:creationId xmlns:p14="http://schemas.microsoft.com/office/powerpoint/2010/main" val="1216796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EAFDFE-B6AB-4640-82D1-60D2E8280FA5}"/>
              </a:ext>
            </a:extLst>
          </p:cNvPr>
          <p:cNvSpPr>
            <a:spLocks noGrp="1"/>
          </p:cNvSpPr>
          <p:nvPr>
            <p:ph type="sldNum" sz="quarter" idx="12"/>
          </p:nvPr>
        </p:nvSpPr>
        <p:spPr>
          <a:xfrm>
            <a:off x="9373404" y="6483069"/>
            <a:ext cx="2743200" cy="365125"/>
          </a:xfrm>
        </p:spPr>
        <p:txBody>
          <a:bodyPr/>
          <a:lstStyle/>
          <a:p>
            <a:fld id="{CA71748E-C824-44A4-80B9-F8DE6AD98080}" type="slidenum">
              <a:rPr lang="zh-CN" altLang="en-US" smtClean="0"/>
              <a:pPr/>
              <a:t>5</a:t>
            </a:fld>
            <a:endParaRPr lang="zh-CN" altLang="en-US" dirty="0"/>
          </a:p>
        </p:txBody>
      </p:sp>
      <p:grpSp>
        <p:nvGrpSpPr>
          <p:cNvPr id="3" name="组合 2">
            <a:extLst>
              <a:ext uri="{FF2B5EF4-FFF2-40B4-BE49-F238E27FC236}">
                <a16:creationId xmlns:a16="http://schemas.microsoft.com/office/drawing/2014/main" id="{2D3149E0-95DE-4875-9F58-764189EF02F4}"/>
              </a:ext>
            </a:extLst>
          </p:cNvPr>
          <p:cNvGrpSpPr/>
          <p:nvPr/>
        </p:nvGrpSpPr>
        <p:grpSpPr>
          <a:xfrm>
            <a:off x="10355228" y="40072"/>
            <a:ext cx="1725943" cy="563993"/>
            <a:chOff x="3302807" y="1034911"/>
            <a:chExt cx="2457878" cy="799669"/>
          </a:xfrm>
          <a:solidFill>
            <a:schemeClr val="bg1"/>
          </a:solidFill>
        </p:grpSpPr>
        <p:sp>
          <p:nvSpPr>
            <p:cNvPr id="4" name="íṡḷîḍê">
              <a:extLst>
                <a:ext uri="{FF2B5EF4-FFF2-40B4-BE49-F238E27FC236}">
                  <a16:creationId xmlns:a16="http://schemas.microsoft.com/office/drawing/2014/main" id="{90CCFC15-F209-4D19-BEFD-C0D42FA1BA3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 name="íŝḻiḍè">
              <a:extLst>
                <a:ext uri="{FF2B5EF4-FFF2-40B4-BE49-F238E27FC236}">
                  <a16:creationId xmlns:a16="http://schemas.microsoft.com/office/drawing/2014/main" id="{2BAD6E9C-9589-4288-9DE9-06CEB2F66D42}"/>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 name="îS1iďê">
              <a:extLst>
                <a:ext uri="{FF2B5EF4-FFF2-40B4-BE49-F238E27FC236}">
                  <a16:creationId xmlns:a16="http://schemas.microsoft.com/office/drawing/2014/main" id="{A6EF6C66-7364-4F48-A847-C993F8EAECF9}"/>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 name="i$ḷíḓe">
              <a:extLst>
                <a:ext uri="{FF2B5EF4-FFF2-40B4-BE49-F238E27FC236}">
                  <a16:creationId xmlns:a16="http://schemas.microsoft.com/office/drawing/2014/main" id="{6E0B2D94-A11A-4C9B-8A14-F26E47D9D3BD}"/>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8" name="îş1íḍé">
              <a:extLst>
                <a:ext uri="{FF2B5EF4-FFF2-40B4-BE49-F238E27FC236}">
                  <a16:creationId xmlns:a16="http://schemas.microsoft.com/office/drawing/2014/main" id="{4FDEF53A-43DB-46EF-AEE7-1AC5DD5E3276}"/>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9" name="išḻïde">
              <a:extLst>
                <a:ext uri="{FF2B5EF4-FFF2-40B4-BE49-F238E27FC236}">
                  <a16:creationId xmlns:a16="http://schemas.microsoft.com/office/drawing/2014/main" id="{0EB7802D-1BC8-42DE-BCF0-26864E3F027B}"/>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0" name="ís1ïḓè">
              <a:extLst>
                <a:ext uri="{FF2B5EF4-FFF2-40B4-BE49-F238E27FC236}">
                  <a16:creationId xmlns:a16="http://schemas.microsoft.com/office/drawing/2014/main" id="{20DEABBB-0A1B-44C1-95C4-BE13CBFCAE15}"/>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1" name="ïṩlïďê">
              <a:extLst>
                <a:ext uri="{FF2B5EF4-FFF2-40B4-BE49-F238E27FC236}">
                  <a16:creationId xmlns:a16="http://schemas.microsoft.com/office/drawing/2014/main" id="{8C88BE7F-A0CA-45B4-ACEE-6E308DB084E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2" name="íSliḋê">
              <a:extLst>
                <a:ext uri="{FF2B5EF4-FFF2-40B4-BE49-F238E27FC236}">
                  <a16:creationId xmlns:a16="http://schemas.microsoft.com/office/drawing/2014/main" id="{23D66440-893A-4909-8A2A-ACF81046CCA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3" name="ísļîdè">
              <a:extLst>
                <a:ext uri="{FF2B5EF4-FFF2-40B4-BE49-F238E27FC236}">
                  <a16:creationId xmlns:a16="http://schemas.microsoft.com/office/drawing/2014/main" id="{BDABD759-AF9F-464D-9F9F-2CDAA630EE5E}"/>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4" name="îSlíḋé">
              <a:extLst>
                <a:ext uri="{FF2B5EF4-FFF2-40B4-BE49-F238E27FC236}">
                  <a16:creationId xmlns:a16="http://schemas.microsoft.com/office/drawing/2014/main" id="{CBE99DDA-25CF-4172-860F-985E4D8A172C}"/>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5" name="íŝ1ïḓê">
              <a:extLst>
                <a:ext uri="{FF2B5EF4-FFF2-40B4-BE49-F238E27FC236}">
                  <a16:creationId xmlns:a16="http://schemas.microsoft.com/office/drawing/2014/main" id="{F94D4B3E-BE22-4C68-AA6D-639857BB7EF3}"/>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6" name="ï$ľíḑè">
              <a:extLst>
                <a:ext uri="{FF2B5EF4-FFF2-40B4-BE49-F238E27FC236}">
                  <a16:creationId xmlns:a16="http://schemas.microsoft.com/office/drawing/2014/main" id="{0CB37F24-3A22-46C0-8588-1F3286D8A380}"/>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7" name="ïṧ1íḓè">
              <a:extLst>
                <a:ext uri="{FF2B5EF4-FFF2-40B4-BE49-F238E27FC236}">
                  <a16:creationId xmlns:a16="http://schemas.microsoft.com/office/drawing/2014/main" id="{57477C97-2AB8-4E65-8471-6B8F044CE5DC}"/>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8" name="işļïḑê">
              <a:extLst>
                <a:ext uri="{FF2B5EF4-FFF2-40B4-BE49-F238E27FC236}">
                  <a16:creationId xmlns:a16="http://schemas.microsoft.com/office/drawing/2014/main" id="{56DC1DF2-FC76-4E96-A574-BE26E7FF313A}"/>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19" name="îŝ1îdé">
              <a:extLst>
                <a:ext uri="{FF2B5EF4-FFF2-40B4-BE49-F238E27FC236}">
                  <a16:creationId xmlns:a16="http://schemas.microsoft.com/office/drawing/2014/main" id="{021254B6-2AD1-48DC-A223-3A73E330CFC6}"/>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0" name="iṩlîḍe">
              <a:extLst>
                <a:ext uri="{FF2B5EF4-FFF2-40B4-BE49-F238E27FC236}">
                  <a16:creationId xmlns:a16="http://schemas.microsoft.com/office/drawing/2014/main" id="{3DF46857-D8EE-43F1-89C1-7A50E72FD2D1}"/>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1" name="ïṣlíḋe">
              <a:extLst>
                <a:ext uri="{FF2B5EF4-FFF2-40B4-BE49-F238E27FC236}">
                  <a16:creationId xmlns:a16="http://schemas.microsoft.com/office/drawing/2014/main" id="{95AC4D2C-32FA-414F-8207-7E768306248A}"/>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2" name="ísļiďè">
              <a:extLst>
                <a:ext uri="{FF2B5EF4-FFF2-40B4-BE49-F238E27FC236}">
                  <a16:creationId xmlns:a16="http://schemas.microsoft.com/office/drawing/2014/main" id="{A7B4BD73-8A2E-4B75-8BA9-8E2A8E64EAB9}"/>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3" name="íṡlïde">
              <a:extLst>
                <a:ext uri="{FF2B5EF4-FFF2-40B4-BE49-F238E27FC236}">
                  <a16:creationId xmlns:a16="http://schemas.microsoft.com/office/drawing/2014/main" id="{33A491E8-50DB-4EC5-AEF9-5A17CB80F5B0}"/>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4" name="iṩlide">
              <a:extLst>
                <a:ext uri="{FF2B5EF4-FFF2-40B4-BE49-F238E27FC236}">
                  <a16:creationId xmlns:a16="http://schemas.microsoft.com/office/drawing/2014/main" id="{E10B3BE8-BE6D-49AC-97BB-BA0FB2BE02F9}"/>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5" name="îs1ïde">
              <a:extLst>
                <a:ext uri="{FF2B5EF4-FFF2-40B4-BE49-F238E27FC236}">
                  <a16:creationId xmlns:a16="http://schemas.microsoft.com/office/drawing/2014/main" id="{F5219A6C-C715-433F-A9BA-9F2E419AEBBC}"/>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6" name="i$ľïḑe">
              <a:extLst>
                <a:ext uri="{FF2B5EF4-FFF2-40B4-BE49-F238E27FC236}">
                  <a16:creationId xmlns:a16="http://schemas.microsoft.com/office/drawing/2014/main" id="{A909E04A-55F0-4189-816E-65ED3FC041C1}"/>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7" name="iŝļíḍè">
              <a:extLst>
                <a:ext uri="{FF2B5EF4-FFF2-40B4-BE49-F238E27FC236}">
                  <a16:creationId xmlns:a16="http://schemas.microsoft.com/office/drawing/2014/main" id="{5099CF3D-1AA3-41ED-85FD-C9AEB74FDEA1}"/>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8" name="íṩḻîḋê">
              <a:extLst>
                <a:ext uri="{FF2B5EF4-FFF2-40B4-BE49-F238E27FC236}">
                  <a16:creationId xmlns:a16="http://schemas.microsoft.com/office/drawing/2014/main" id="{12815DD8-74F7-4318-B9E0-0CD12AEE311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29" name="íṡľiḑê">
              <a:extLst>
                <a:ext uri="{FF2B5EF4-FFF2-40B4-BE49-F238E27FC236}">
                  <a16:creationId xmlns:a16="http://schemas.microsoft.com/office/drawing/2014/main" id="{9460671D-CE8A-4171-A3E5-B997BC9868FE}"/>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0" name="iṥļiḓe">
              <a:extLst>
                <a:ext uri="{FF2B5EF4-FFF2-40B4-BE49-F238E27FC236}">
                  <a16:creationId xmlns:a16="http://schemas.microsoft.com/office/drawing/2014/main" id="{C1E85DC5-12B7-4A78-806B-5299C4924EA7}"/>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1" name="iŝ1îḋé">
              <a:extLst>
                <a:ext uri="{FF2B5EF4-FFF2-40B4-BE49-F238E27FC236}">
                  <a16:creationId xmlns:a16="http://schemas.microsoft.com/office/drawing/2014/main" id="{0E0DDCBF-1D16-4D55-8397-43D3A86E786A}"/>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2" name="iṩḷiḓè">
              <a:extLst>
                <a:ext uri="{FF2B5EF4-FFF2-40B4-BE49-F238E27FC236}">
                  <a16:creationId xmlns:a16="http://schemas.microsoft.com/office/drawing/2014/main" id="{C4E203CC-6881-47F5-BFFB-703616E5F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3" name="îṥ1ïďé">
              <a:extLst>
                <a:ext uri="{FF2B5EF4-FFF2-40B4-BE49-F238E27FC236}">
                  <a16:creationId xmlns:a16="http://schemas.microsoft.com/office/drawing/2014/main" id="{4B1B1E13-6417-44F3-8D28-DE876EB71C2E}"/>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4" name="iSḷiḍé">
              <a:extLst>
                <a:ext uri="{FF2B5EF4-FFF2-40B4-BE49-F238E27FC236}">
                  <a16:creationId xmlns:a16="http://schemas.microsoft.com/office/drawing/2014/main" id="{AAE99463-F00F-447B-B17A-036160050853}"/>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5" name="îşļíďê">
              <a:extLst>
                <a:ext uri="{FF2B5EF4-FFF2-40B4-BE49-F238E27FC236}">
                  <a16:creationId xmlns:a16="http://schemas.microsoft.com/office/drawing/2014/main" id="{1913147A-C396-41D9-8218-E8A9DD07A9E3}"/>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6" name="îš1íḍê">
              <a:extLst>
                <a:ext uri="{FF2B5EF4-FFF2-40B4-BE49-F238E27FC236}">
                  <a16:creationId xmlns:a16="http://schemas.microsoft.com/office/drawing/2014/main" id="{8BDD9D0D-8FAA-4C23-A4F0-E12A18F6498F}"/>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7" name="íŝliḓê">
              <a:extLst>
                <a:ext uri="{FF2B5EF4-FFF2-40B4-BE49-F238E27FC236}">
                  <a16:creationId xmlns:a16="http://schemas.microsoft.com/office/drawing/2014/main" id="{E8D487A5-AF41-49AF-A03C-E0A4F6E07DBD}"/>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8" name="iṡļiḍe">
              <a:extLst>
                <a:ext uri="{FF2B5EF4-FFF2-40B4-BE49-F238E27FC236}">
                  <a16:creationId xmlns:a16="http://schemas.microsoft.com/office/drawing/2014/main" id="{3ECA2B21-3035-4ADA-B241-EF2391497957}"/>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39" name="ï$ļïdé">
              <a:extLst>
                <a:ext uri="{FF2B5EF4-FFF2-40B4-BE49-F238E27FC236}">
                  <a16:creationId xmlns:a16="http://schemas.microsoft.com/office/drawing/2014/main" id="{44694110-A087-404B-A3FB-F841F199DD5C}"/>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0" name="íšlíḓe">
              <a:extLst>
                <a:ext uri="{FF2B5EF4-FFF2-40B4-BE49-F238E27FC236}">
                  <a16:creationId xmlns:a16="http://schemas.microsoft.com/office/drawing/2014/main" id="{A4AF9F36-4FAD-4FA9-8CEA-B1CC9837EC5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1" name="ïṣļïḍê">
              <a:extLst>
                <a:ext uri="{FF2B5EF4-FFF2-40B4-BE49-F238E27FC236}">
                  <a16:creationId xmlns:a16="http://schemas.microsoft.com/office/drawing/2014/main" id="{D25FA705-8405-4029-A944-F0297A9A38D2}"/>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2" name="ís1íḍe">
              <a:extLst>
                <a:ext uri="{FF2B5EF4-FFF2-40B4-BE49-F238E27FC236}">
                  <a16:creationId xmlns:a16="http://schemas.microsoft.com/office/drawing/2014/main" id="{9F97A8BC-0190-4210-8F44-D202D2078956}"/>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3" name="íşlïḋe">
              <a:extLst>
                <a:ext uri="{FF2B5EF4-FFF2-40B4-BE49-F238E27FC236}">
                  <a16:creationId xmlns:a16="http://schemas.microsoft.com/office/drawing/2014/main" id="{42321154-C4B4-4250-8E7D-15EEBA5EB1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4" name="iŝļîḍé">
              <a:extLst>
                <a:ext uri="{FF2B5EF4-FFF2-40B4-BE49-F238E27FC236}">
                  <a16:creationId xmlns:a16="http://schemas.microsoft.com/office/drawing/2014/main" id="{4570D0AF-AA2B-47EE-AB35-38B0E8D94AF3}"/>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5" name="íṧḷídé">
              <a:extLst>
                <a:ext uri="{FF2B5EF4-FFF2-40B4-BE49-F238E27FC236}">
                  <a16:creationId xmlns:a16="http://schemas.microsoft.com/office/drawing/2014/main" id="{C614C80B-4BA9-4476-B4BC-8D0ECF44CAA6}"/>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6" name="îSḻiḋe">
              <a:extLst>
                <a:ext uri="{FF2B5EF4-FFF2-40B4-BE49-F238E27FC236}">
                  <a16:creationId xmlns:a16="http://schemas.microsoft.com/office/drawing/2014/main" id="{2662ECAA-7122-4AE2-B06E-BC8DB84E23DE}"/>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7" name="í$ḻîḓè">
              <a:extLst>
                <a:ext uri="{FF2B5EF4-FFF2-40B4-BE49-F238E27FC236}">
                  <a16:creationId xmlns:a16="http://schemas.microsoft.com/office/drawing/2014/main" id="{C5D9325C-62A2-40F0-A661-7F1ACF9589C5}"/>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8" name="ïŝḷíḍe">
              <a:extLst>
                <a:ext uri="{FF2B5EF4-FFF2-40B4-BE49-F238E27FC236}">
                  <a16:creationId xmlns:a16="http://schemas.microsoft.com/office/drawing/2014/main" id="{89B8F8D2-5ED9-42DD-AE1F-BBD600CE16AF}"/>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49" name="íṩļiḋe">
              <a:extLst>
                <a:ext uri="{FF2B5EF4-FFF2-40B4-BE49-F238E27FC236}">
                  <a16:creationId xmlns:a16="http://schemas.microsoft.com/office/drawing/2014/main" id="{44B4B029-3110-4074-AA69-C634E171FD1C}"/>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0" name="îṡlïḍé">
              <a:extLst>
                <a:ext uri="{FF2B5EF4-FFF2-40B4-BE49-F238E27FC236}">
                  <a16:creationId xmlns:a16="http://schemas.microsoft.com/office/drawing/2014/main" id="{D42B7FE0-F8E9-480D-8F98-6BFB93588EDF}"/>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1" name="iS1îḓè">
              <a:extLst>
                <a:ext uri="{FF2B5EF4-FFF2-40B4-BE49-F238E27FC236}">
                  <a16:creationId xmlns:a16="http://schemas.microsoft.com/office/drawing/2014/main" id="{9F884EC1-BD07-4358-9733-BBF1894B6C74}"/>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2" name="íṡḷiḑê">
              <a:extLst>
                <a:ext uri="{FF2B5EF4-FFF2-40B4-BE49-F238E27FC236}">
                  <a16:creationId xmlns:a16="http://schemas.microsoft.com/office/drawing/2014/main" id="{FC8CE875-F490-420E-933F-42FFA762B0C9}"/>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3" name="iṩ1íḓê">
              <a:extLst>
                <a:ext uri="{FF2B5EF4-FFF2-40B4-BE49-F238E27FC236}">
                  <a16:creationId xmlns:a16="http://schemas.microsoft.com/office/drawing/2014/main" id="{00463253-199F-4DD0-8898-DA782D746F88}"/>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4" name="ïşľïďé">
              <a:extLst>
                <a:ext uri="{FF2B5EF4-FFF2-40B4-BE49-F238E27FC236}">
                  <a16:creationId xmlns:a16="http://schemas.microsoft.com/office/drawing/2014/main" id="{0F1937CF-A54B-48BB-99CE-D907C5B90A23}"/>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5" name="ïśḷïḍê">
              <a:extLst>
                <a:ext uri="{FF2B5EF4-FFF2-40B4-BE49-F238E27FC236}">
                  <a16:creationId xmlns:a16="http://schemas.microsoft.com/office/drawing/2014/main" id="{08BF1BCE-DE62-4840-A8DE-C72E3AC14288}"/>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6" name="ïṡḷíḑé">
              <a:extLst>
                <a:ext uri="{FF2B5EF4-FFF2-40B4-BE49-F238E27FC236}">
                  <a16:creationId xmlns:a16="http://schemas.microsoft.com/office/drawing/2014/main" id="{2E3A77A9-6381-4462-9FF2-37EEC9FF1641}"/>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7" name="iśḻíde">
              <a:extLst>
                <a:ext uri="{FF2B5EF4-FFF2-40B4-BE49-F238E27FC236}">
                  <a16:creationId xmlns:a16="http://schemas.microsoft.com/office/drawing/2014/main" id="{1B8E93F1-53E1-450D-9E6C-32423B8C7ED7}"/>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8" name="í$ḻîdê">
              <a:extLst>
                <a:ext uri="{FF2B5EF4-FFF2-40B4-BE49-F238E27FC236}">
                  <a16:creationId xmlns:a16="http://schemas.microsoft.com/office/drawing/2014/main" id="{72C6A72E-5FAE-4C7D-A890-0CE12BFF6A89}"/>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59" name="iṩḷídé">
              <a:extLst>
                <a:ext uri="{FF2B5EF4-FFF2-40B4-BE49-F238E27FC236}">
                  <a16:creationId xmlns:a16="http://schemas.microsoft.com/office/drawing/2014/main" id="{A2FEC7D6-164C-4E6F-B3DF-DBC79BB3D767}"/>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0" name="iślíḓè">
              <a:extLst>
                <a:ext uri="{FF2B5EF4-FFF2-40B4-BE49-F238E27FC236}">
                  <a16:creationId xmlns:a16="http://schemas.microsoft.com/office/drawing/2014/main" id="{504169E1-3E73-4A8B-83CE-FDACE31D257F}"/>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1" name="îṥ1ïḋe">
              <a:extLst>
                <a:ext uri="{FF2B5EF4-FFF2-40B4-BE49-F238E27FC236}">
                  <a16:creationId xmlns:a16="http://schemas.microsoft.com/office/drawing/2014/main" id="{E3D94868-EA9C-425C-A3BD-C574313B13D8}"/>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2" name="iṧḷídè">
              <a:extLst>
                <a:ext uri="{FF2B5EF4-FFF2-40B4-BE49-F238E27FC236}">
                  <a16:creationId xmlns:a16="http://schemas.microsoft.com/office/drawing/2014/main" id="{58AE9C1B-7DA2-447D-8A69-2B2BFD2D0439}"/>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3" name="ïṩḷíḍé">
              <a:extLst>
                <a:ext uri="{FF2B5EF4-FFF2-40B4-BE49-F238E27FC236}">
                  <a16:creationId xmlns:a16="http://schemas.microsoft.com/office/drawing/2014/main" id="{4F33A780-D02E-416A-8FB7-6E47C4CE811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4" name="ï$liḓê">
              <a:extLst>
                <a:ext uri="{FF2B5EF4-FFF2-40B4-BE49-F238E27FC236}">
                  <a16:creationId xmlns:a16="http://schemas.microsoft.com/office/drawing/2014/main" id="{8743C503-E698-444D-BD66-C3271FAA9CCE}"/>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5" name="iṩlidè">
              <a:extLst>
                <a:ext uri="{FF2B5EF4-FFF2-40B4-BE49-F238E27FC236}">
                  <a16:creationId xmlns:a16="http://schemas.microsoft.com/office/drawing/2014/main" id="{7578CDA6-23E1-4A6C-A296-F236FDD4A20E}"/>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6" name="íṧļîḓé">
              <a:extLst>
                <a:ext uri="{FF2B5EF4-FFF2-40B4-BE49-F238E27FC236}">
                  <a16:creationId xmlns:a16="http://schemas.microsoft.com/office/drawing/2014/main" id="{3ADD42CC-C7B0-47C5-9E87-A93DD635643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7" name="iṩḻîḑè">
              <a:extLst>
                <a:ext uri="{FF2B5EF4-FFF2-40B4-BE49-F238E27FC236}">
                  <a16:creationId xmlns:a16="http://schemas.microsoft.com/office/drawing/2014/main" id="{D1509E68-2CC6-4480-BACD-F0164402618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8" name="ïṣľíḑé">
              <a:extLst>
                <a:ext uri="{FF2B5EF4-FFF2-40B4-BE49-F238E27FC236}">
                  <a16:creationId xmlns:a16="http://schemas.microsoft.com/office/drawing/2014/main" id="{14AD797C-BEBA-4EE0-B337-BC530F6D322B}"/>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69" name="îşḻîḑè">
              <a:extLst>
                <a:ext uri="{FF2B5EF4-FFF2-40B4-BE49-F238E27FC236}">
                  <a16:creationId xmlns:a16="http://schemas.microsoft.com/office/drawing/2014/main" id="{9AC4B746-563F-4C14-960B-9906E63498EF}"/>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0" name="iṣḷiḓê">
              <a:extLst>
                <a:ext uri="{FF2B5EF4-FFF2-40B4-BE49-F238E27FC236}">
                  <a16:creationId xmlns:a16="http://schemas.microsoft.com/office/drawing/2014/main" id="{BAFA9CD7-30D3-431E-B139-BA2FB2DECEBF}"/>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sp>
          <p:nvSpPr>
            <p:cNvPr id="71" name="işļídè">
              <a:extLst>
                <a:ext uri="{FF2B5EF4-FFF2-40B4-BE49-F238E27FC236}">
                  <a16:creationId xmlns:a16="http://schemas.microsoft.com/office/drawing/2014/main" id="{9E576610-4797-418D-9171-8646EB2039C8}"/>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defTabSz="914332">
                <a:defRPr/>
              </a:pPr>
              <a:endParaRPr dirty="0">
                <a:solidFill>
                  <a:prstClr val="white"/>
                </a:solidFill>
                <a:highlight>
                  <a:srgbClr val="FFFFFF"/>
                </a:highlight>
                <a:latin typeface="Calibri Light"/>
                <a:ea typeface="微软雅黑 Light"/>
              </a:endParaRPr>
            </a:p>
          </p:txBody>
        </p:sp>
      </p:grpSp>
      <p:sp>
        <p:nvSpPr>
          <p:cNvPr id="72" name="文本框 71">
            <a:extLst>
              <a:ext uri="{FF2B5EF4-FFF2-40B4-BE49-F238E27FC236}">
                <a16:creationId xmlns:a16="http://schemas.microsoft.com/office/drawing/2014/main" id="{939B8FB5-E57B-4D92-8A7D-17FEE5537CD6}"/>
              </a:ext>
            </a:extLst>
          </p:cNvPr>
          <p:cNvSpPr txBox="1"/>
          <p:nvPr/>
        </p:nvSpPr>
        <p:spPr>
          <a:xfrm>
            <a:off x="2924234" y="79487"/>
            <a:ext cx="6770540" cy="461665"/>
          </a:xfrm>
          <a:prstGeom prst="rect">
            <a:avLst/>
          </a:prstGeom>
          <a:noFill/>
        </p:spPr>
        <p:txBody>
          <a:bodyPr wrap="square">
            <a:spAutoFit/>
          </a:bodyPr>
          <a:lstStyle/>
          <a:p>
            <a:pPr algn="ctr">
              <a:defRPr/>
            </a:pPr>
            <a:r>
              <a:rPr lang="zh-CN" altLang="en-US"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课题框架</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4" name="图片 73">
            <a:extLst>
              <a:ext uri="{FF2B5EF4-FFF2-40B4-BE49-F238E27FC236}">
                <a16:creationId xmlns:a16="http://schemas.microsoft.com/office/drawing/2014/main" id="{4FA680FD-AE7B-462E-858D-55E10ECFE8DE}"/>
              </a:ext>
            </a:extLst>
          </p:cNvPr>
          <p:cNvPicPr>
            <a:picLocks noChangeAspect="1"/>
          </p:cNvPicPr>
          <p:nvPr/>
        </p:nvPicPr>
        <p:blipFill>
          <a:blip r:embed="rId3"/>
          <a:stretch>
            <a:fillRect/>
          </a:stretch>
        </p:blipFill>
        <p:spPr>
          <a:xfrm>
            <a:off x="6600190" y="795739"/>
            <a:ext cx="4764668" cy="2719972"/>
          </a:xfrm>
          <a:prstGeom prst="rect">
            <a:avLst/>
          </a:prstGeom>
        </p:spPr>
      </p:pic>
      <p:pic>
        <p:nvPicPr>
          <p:cNvPr id="75" name="图片 74">
            <a:extLst>
              <a:ext uri="{FF2B5EF4-FFF2-40B4-BE49-F238E27FC236}">
                <a16:creationId xmlns:a16="http://schemas.microsoft.com/office/drawing/2014/main" id="{D4577B88-363D-40BA-8760-5B88CE9CA6D8}"/>
              </a:ext>
            </a:extLst>
          </p:cNvPr>
          <p:cNvPicPr>
            <a:picLocks noChangeAspect="1"/>
          </p:cNvPicPr>
          <p:nvPr/>
        </p:nvPicPr>
        <p:blipFill>
          <a:blip r:embed="rId4"/>
          <a:stretch>
            <a:fillRect/>
          </a:stretch>
        </p:blipFill>
        <p:spPr>
          <a:xfrm>
            <a:off x="410132" y="785967"/>
            <a:ext cx="4762382" cy="2664202"/>
          </a:xfrm>
          <a:prstGeom prst="rect">
            <a:avLst/>
          </a:prstGeom>
        </p:spPr>
      </p:pic>
      <p:sp>
        <p:nvSpPr>
          <p:cNvPr id="77" name="箭头: 右 76">
            <a:extLst>
              <a:ext uri="{FF2B5EF4-FFF2-40B4-BE49-F238E27FC236}">
                <a16:creationId xmlns:a16="http://schemas.microsoft.com/office/drawing/2014/main" id="{D42821DF-1744-4446-84C3-17B4F3B0642A}"/>
              </a:ext>
            </a:extLst>
          </p:cNvPr>
          <p:cNvSpPr/>
          <p:nvPr/>
        </p:nvSpPr>
        <p:spPr>
          <a:xfrm>
            <a:off x="5277125" y="1595047"/>
            <a:ext cx="724801" cy="2473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50745058-515B-4D8E-B488-3E06C2DB5E7C}"/>
              </a:ext>
            </a:extLst>
          </p:cNvPr>
          <p:cNvSpPr txBox="1"/>
          <p:nvPr/>
        </p:nvSpPr>
        <p:spPr>
          <a:xfrm>
            <a:off x="154746" y="5787107"/>
            <a:ext cx="11750976" cy="923330"/>
          </a:xfrm>
          <a:prstGeom prst="rect">
            <a:avLst/>
          </a:prstGeom>
          <a:noFill/>
        </p:spPr>
        <p:txBody>
          <a:bodyPr wrap="square" rtlCol="0">
            <a:spAutoFit/>
          </a:bodyPr>
          <a:lstStyle/>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模型框架：从</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sequence</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出发，利用</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alphaflow</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生成构象多样的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apo</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，线性生成</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apo-</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链的动态构象集；</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customizied</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pocketminer</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根据构象集合预测潜在隐藏氨基酸残基（隐藏变构口袋</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Af-Claseq</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进行</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MSA Purification</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生成偏好构象；利用</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AF-RAVE</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进一步优化构象，生成</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holo-like structure</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6" name="图片 75">
            <a:extLst>
              <a:ext uri="{FF2B5EF4-FFF2-40B4-BE49-F238E27FC236}">
                <a16:creationId xmlns:a16="http://schemas.microsoft.com/office/drawing/2014/main" id="{C44818DC-514A-40D1-A333-43A02E2C5669}"/>
              </a:ext>
            </a:extLst>
          </p:cNvPr>
          <p:cNvPicPr>
            <a:picLocks noChangeAspect="1"/>
          </p:cNvPicPr>
          <p:nvPr/>
        </p:nvPicPr>
        <p:blipFill>
          <a:blip r:embed="rId5"/>
          <a:stretch>
            <a:fillRect/>
          </a:stretch>
        </p:blipFill>
        <p:spPr>
          <a:xfrm>
            <a:off x="6401354" y="3813339"/>
            <a:ext cx="4799128" cy="1762704"/>
          </a:xfrm>
          <a:prstGeom prst="rect">
            <a:avLst/>
          </a:prstGeom>
        </p:spPr>
      </p:pic>
      <p:sp>
        <p:nvSpPr>
          <p:cNvPr id="79" name="箭头: 下 78">
            <a:extLst>
              <a:ext uri="{FF2B5EF4-FFF2-40B4-BE49-F238E27FC236}">
                <a16:creationId xmlns:a16="http://schemas.microsoft.com/office/drawing/2014/main" id="{3186BF06-A64F-47D3-8B62-0027E5F7E66F}"/>
              </a:ext>
            </a:extLst>
          </p:cNvPr>
          <p:cNvSpPr/>
          <p:nvPr/>
        </p:nvSpPr>
        <p:spPr>
          <a:xfrm>
            <a:off x="8543743" y="3166062"/>
            <a:ext cx="257175" cy="5413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 name="图片 80">
            <a:extLst>
              <a:ext uri="{FF2B5EF4-FFF2-40B4-BE49-F238E27FC236}">
                <a16:creationId xmlns:a16="http://schemas.microsoft.com/office/drawing/2014/main" id="{26E7886C-D8C8-43A6-883B-6CAF199BC3F3}"/>
              </a:ext>
            </a:extLst>
          </p:cNvPr>
          <p:cNvPicPr>
            <a:picLocks noChangeAspect="1"/>
          </p:cNvPicPr>
          <p:nvPr/>
        </p:nvPicPr>
        <p:blipFill>
          <a:blip r:embed="rId6"/>
          <a:stretch>
            <a:fillRect/>
          </a:stretch>
        </p:blipFill>
        <p:spPr>
          <a:xfrm>
            <a:off x="517213" y="3490563"/>
            <a:ext cx="4681324" cy="2231002"/>
          </a:xfrm>
          <a:prstGeom prst="rect">
            <a:avLst/>
          </a:prstGeom>
        </p:spPr>
      </p:pic>
      <p:sp>
        <p:nvSpPr>
          <p:cNvPr id="82" name="箭头: 右 81">
            <a:extLst>
              <a:ext uri="{FF2B5EF4-FFF2-40B4-BE49-F238E27FC236}">
                <a16:creationId xmlns:a16="http://schemas.microsoft.com/office/drawing/2014/main" id="{62DF9885-DF43-495A-AF45-AEF18C26B637}"/>
              </a:ext>
            </a:extLst>
          </p:cNvPr>
          <p:cNvSpPr/>
          <p:nvPr/>
        </p:nvSpPr>
        <p:spPr>
          <a:xfrm rot="10800000">
            <a:off x="5437544" y="4478734"/>
            <a:ext cx="724802" cy="345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a:extLst>
              <a:ext uri="{FF2B5EF4-FFF2-40B4-BE49-F238E27FC236}">
                <a16:creationId xmlns:a16="http://schemas.microsoft.com/office/drawing/2014/main" id="{55A83133-5ABE-402F-BF44-4D1F839330D8}"/>
              </a:ext>
            </a:extLst>
          </p:cNvPr>
          <p:cNvSpPr txBox="1"/>
          <p:nvPr/>
        </p:nvSpPr>
        <p:spPr>
          <a:xfrm>
            <a:off x="4865302" y="2707123"/>
            <a:ext cx="3379309" cy="707886"/>
          </a:xfrm>
          <a:prstGeom prst="rect">
            <a:avLst/>
          </a:prstGeom>
          <a:noFill/>
        </p:spPr>
        <p:txBody>
          <a:bodyPr wrap="square" rtlCol="0">
            <a:spAutoFit/>
          </a:bodyPr>
          <a:lstStyle/>
          <a:p>
            <a:pPr algn="ctr"/>
            <a:r>
              <a:rPr lang="en-US" altLang="zh-CN" sz="20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Cryptic Allosteric Pocket</a:t>
            </a:r>
          </a:p>
          <a:p>
            <a:pPr algn="ctr"/>
            <a:r>
              <a:rPr lang="en-US" altLang="zh-CN" sz="20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Holo-like Structure </a:t>
            </a:r>
            <a:endParaRPr lang="zh-CN" altLang="en-US" sz="20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31659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A71748E-C824-44A4-80B9-F8DE6AD98080}" type="slidenum">
              <a:rPr lang="zh-CN" altLang="en-US" smtClean="0"/>
              <a:t>6</a:t>
            </a:fld>
            <a:endParaRPr lang="zh-CN" altLang="en-US" dirty="0"/>
          </a:p>
        </p:txBody>
      </p:sp>
      <p:sp>
        <p:nvSpPr>
          <p:cNvPr id="3" name="文本框 2"/>
          <p:cNvSpPr txBox="1"/>
          <p:nvPr/>
        </p:nvSpPr>
        <p:spPr>
          <a:xfrm>
            <a:off x="418640" y="1319024"/>
            <a:ext cx="10696679" cy="2031325"/>
          </a:xfrm>
          <a:prstGeom prst="rect">
            <a:avLst/>
          </a:prstGeom>
          <a:noFill/>
        </p:spPr>
        <p:txBody>
          <a:bodyPr wrap="square" rtlCol="0">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Step1</a:t>
            </a:r>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构象准备：提取全长序列  利用</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Alphaflow</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生成</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50</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apo</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作为</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pockerminer</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的构象输入</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真实标签：变构配体周围</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4.5A</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的残基 作为变构结合位点</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Step2</a:t>
            </a:r>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潜在变构残基预测：</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Customized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pocketminer</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输出每个氨基酸残基是隐藏变构口袋的概率值</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p:txBody>
      </p:sp>
      <p:sp>
        <p:nvSpPr>
          <p:cNvPr id="4" name="文本框 3"/>
          <p:cNvSpPr txBox="1"/>
          <p:nvPr/>
        </p:nvSpPr>
        <p:spPr>
          <a:xfrm>
            <a:off x="418640" y="820982"/>
            <a:ext cx="6466902" cy="369332"/>
          </a:xfrm>
          <a:prstGeom prst="rect">
            <a:avLst/>
          </a:prstGeom>
          <a:noFill/>
        </p:spPr>
        <p:txBody>
          <a:bodyPr wrap="square" rtlCol="0">
            <a:spAutoFit/>
          </a:bodyPr>
          <a:lstStyle/>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参考构象：</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5vex GLP-1R–NNC0640</a:t>
            </a:r>
            <a:endPar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表格 10"/>
          <p:cNvGraphicFramePr>
            <a:graphicFrameLocks noGrp="1"/>
          </p:cNvGraphicFramePr>
          <p:nvPr/>
        </p:nvGraphicFramePr>
        <p:xfrm>
          <a:off x="507475" y="3363687"/>
          <a:ext cx="8451468" cy="1407160"/>
        </p:xfrm>
        <a:graphic>
          <a:graphicData uri="http://schemas.openxmlformats.org/drawingml/2006/table">
            <a:tbl>
              <a:tblPr firstRow="1" bandRow="1">
                <a:tableStyleId>{5C22544A-7EE6-4342-B048-85BDC9FD1C3A}</a:tableStyleId>
              </a:tblPr>
              <a:tblGrid>
                <a:gridCol w="2112867">
                  <a:extLst>
                    <a:ext uri="{9D8B030D-6E8A-4147-A177-3AD203B41FA5}">
                      <a16:colId xmlns:a16="http://schemas.microsoft.com/office/drawing/2014/main" val="20000"/>
                    </a:ext>
                  </a:extLst>
                </a:gridCol>
                <a:gridCol w="2112867">
                  <a:extLst>
                    <a:ext uri="{9D8B030D-6E8A-4147-A177-3AD203B41FA5}">
                      <a16:colId xmlns:a16="http://schemas.microsoft.com/office/drawing/2014/main" val="20001"/>
                    </a:ext>
                  </a:extLst>
                </a:gridCol>
                <a:gridCol w="2112867">
                  <a:extLst>
                    <a:ext uri="{9D8B030D-6E8A-4147-A177-3AD203B41FA5}">
                      <a16:colId xmlns:a16="http://schemas.microsoft.com/office/drawing/2014/main" val="20002"/>
                    </a:ext>
                  </a:extLst>
                </a:gridCol>
                <a:gridCol w="2112867">
                  <a:extLst>
                    <a:ext uri="{9D8B030D-6E8A-4147-A177-3AD203B41FA5}">
                      <a16:colId xmlns:a16="http://schemas.microsoft.com/office/drawing/2014/main" val="20003"/>
                    </a:ext>
                  </a:extLst>
                </a:gridCol>
              </a:tblGrid>
              <a:tr h="370840">
                <a:tc>
                  <a:txBody>
                    <a:bodyPr/>
                    <a:lstStyle/>
                    <a:p>
                      <a:endParaRPr lang="zh-CN" altLang="en-US" sz="1400" b="1" kern="120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阈值</a:t>
                      </a:r>
                    </a:p>
                  </a:txBody>
                  <a:tcPr/>
                </a:tc>
                <a:tc>
                  <a:txBody>
                    <a:bodyPr/>
                    <a:lstStyle/>
                    <a:p>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recall</a:t>
                      </a:r>
                      <a:endPar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positive-rate</a:t>
                      </a:r>
                      <a:endPar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每个</a:t>
                      </a:r>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apo </a:t>
                      </a:r>
                      <a:r>
                        <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的预测概率值 单独进行评估 </a:t>
                      </a:r>
                      <a:endPar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0.95</a:t>
                      </a:r>
                      <a:endPar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0.33</a:t>
                      </a:r>
                      <a:endParaRPr lang="zh-CN" altLang="en-US" sz="1400" b="1" kern="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0.24</a:t>
                      </a:r>
                      <a:endPar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所有</a:t>
                      </a:r>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apo </a:t>
                      </a:r>
                      <a:r>
                        <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的预测概率值平均后进行评估 </a:t>
                      </a:r>
                      <a:endPar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0.7</a:t>
                      </a:r>
                      <a:endPar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0.313</a:t>
                      </a:r>
                      <a:endParaRPr lang="zh-CN" altLang="en-US" sz="1400" b="1" kern="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0.24</a:t>
                      </a:r>
                      <a:endParaRPr lang="zh-CN" altLang="en-US" sz="1400" b="1"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7" name="文本框 6"/>
          <p:cNvSpPr txBox="1"/>
          <p:nvPr/>
        </p:nvSpPr>
        <p:spPr>
          <a:xfrm>
            <a:off x="1958051" y="126805"/>
            <a:ext cx="8275897"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Case : GLP1 negative allosteric modulators </a:t>
            </a:r>
            <a:endParaRPr lang="zh-CN" altLang="zh-CN"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A71748E-C824-44A4-80B9-F8DE6AD98080}" type="slidenum">
              <a:rPr lang="zh-CN" altLang="en-US" smtClean="0"/>
              <a:t>7</a:t>
            </a:fld>
            <a:endParaRPr lang="zh-CN" altLang="en-US" dirty="0"/>
          </a:p>
        </p:txBody>
      </p:sp>
      <p:sp>
        <p:nvSpPr>
          <p:cNvPr id="3" name="文本框 2"/>
          <p:cNvSpPr txBox="1"/>
          <p:nvPr/>
        </p:nvSpPr>
        <p:spPr>
          <a:xfrm>
            <a:off x="464695" y="749508"/>
            <a:ext cx="11287038" cy="2862322"/>
          </a:xfrm>
          <a:prstGeom prst="rect">
            <a:avLst/>
          </a:prstGeom>
          <a:noFill/>
        </p:spPr>
        <p:txBody>
          <a:bodyPr wrap="square" rtlCol="0">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Step3   </a:t>
            </a:r>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针对</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customined</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pocketminer</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给出的潜在残基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利用</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deepallo</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plb</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score</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判断出最可能变构口袋残基组成</a:t>
            </a:r>
            <a:endParaRPr lang="en-US" altLang="zh-CN" dirty="0">
              <a:solidFill>
                <a:srgbClr val="C00000"/>
              </a:solidFill>
            </a:endParaRP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生成多样构象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处理</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raw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msa</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潜在区域 映射到构象上后 利用</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DBSCAN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算法进行分</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cluster</a:t>
            </a: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deepallo+plb</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score</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确定最终的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cluster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进一步过滤预测为变构位点的残基</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结果：</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p"/>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根据大量处理</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msa</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生成的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apo</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构象上可以合理的删选出，在</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构象上确定的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14</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个氨基酸残基（</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TM6/TM7).</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并且针对</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GPCRs,</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我们重点关注</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最具挑战性的螺旋外膜脂质区的变构口袋</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p"/>
            </a:pP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7"/>
          <p:cNvSpPr txBox="1"/>
          <p:nvPr/>
        </p:nvSpPr>
        <p:spPr>
          <a:xfrm>
            <a:off x="7373494" y="4903284"/>
            <a:ext cx="4378239" cy="738664"/>
          </a:xfrm>
          <a:prstGeom prst="rect">
            <a:avLst/>
          </a:prstGeom>
          <a:noFill/>
        </p:spPr>
        <p:txBody>
          <a:bodyPr wrap="square" rtlCol="0">
            <a:spAutoFit/>
          </a:bodyPr>
          <a:lstStyle/>
          <a:p>
            <a:r>
              <a:rPr lang="en-US" altLang="zh-CN" sz="14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构象下比对结果</a:t>
            </a:r>
            <a:endPar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p"/>
            </a:pPr>
            <a:r>
              <a:rPr lang="en-US" altLang="zh-CN" sz="14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Fpocket</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识别出的口袋：距离</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min</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4.61A  &lt;10A </a:t>
            </a:r>
            <a:r>
              <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占</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2/15</a:t>
            </a:r>
          </a:p>
        </p:txBody>
      </p:sp>
      <p:sp>
        <p:nvSpPr>
          <p:cNvPr id="6" name="文本框 5"/>
          <p:cNvSpPr txBox="1"/>
          <p:nvPr/>
        </p:nvSpPr>
        <p:spPr>
          <a:xfrm>
            <a:off x="1958051" y="126805"/>
            <a:ext cx="8275897"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Case : GLP1 negative allosteric modulators </a:t>
            </a:r>
            <a:endParaRPr lang="zh-CN" altLang="zh-CN" sz="2400" b="1"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06650" y="3515407"/>
            <a:ext cx="11222111" cy="2031325"/>
          </a:xfrm>
          <a:prstGeom prst="rect">
            <a:avLst/>
          </a:prstGeom>
          <a:noFill/>
        </p:spPr>
        <p:txBody>
          <a:bodyPr wrap="square">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step4</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Af_claseq</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选择出在候选变构</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cluster</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上更符合口袋特征的偏好构象</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挑选构象评价指标：每个构象上偏好残基形成的几何中心和</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fpocket</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抓出口袋的最小距离。</a:t>
            </a:r>
            <a:endParaRPr lang="en-US" altLang="zh-CN" dirty="0"/>
          </a:p>
          <a:p>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标准</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af2 : 5-10A 5-6</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之间的占</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1/5</a:t>
            </a:r>
          </a:p>
          <a:p>
            <a:endParaRPr lang="en-US" altLang="zh-CN" dirty="0"/>
          </a:p>
          <a:p>
            <a:endParaRPr lang="en-US" altLang="zh-CN" dirty="0"/>
          </a:p>
        </p:txBody>
      </p:sp>
      <p:graphicFrame>
        <p:nvGraphicFramePr>
          <p:cNvPr id="9" name="表格 10"/>
          <p:cNvGraphicFramePr>
            <a:graphicFrameLocks noGrp="1"/>
          </p:cNvGraphicFramePr>
          <p:nvPr>
            <p:extLst>
              <p:ext uri="{D42A27DB-BD31-4B8C-83A1-F6EECF244321}">
                <p14:modId xmlns:p14="http://schemas.microsoft.com/office/powerpoint/2010/main" val="2894112426"/>
              </p:ext>
            </p:extLst>
          </p:nvPr>
        </p:nvGraphicFramePr>
        <p:xfrm>
          <a:off x="306650" y="5253510"/>
          <a:ext cx="6704686" cy="1112520"/>
        </p:xfrm>
        <a:graphic>
          <a:graphicData uri="http://schemas.openxmlformats.org/drawingml/2006/table">
            <a:tbl>
              <a:tblPr firstRow="1" bandRow="1">
                <a:tableStyleId>{5C22544A-7EE6-4342-B048-85BDC9FD1C3A}</a:tableStyleId>
              </a:tblPr>
              <a:tblGrid>
                <a:gridCol w="832675">
                  <a:extLst>
                    <a:ext uri="{9D8B030D-6E8A-4147-A177-3AD203B41FA5}">
                      <a16:colId xmlns:a16="http://schemas.microsoft.com/office/drawing/2014/main" val="20000"/>
                    </a:ext>
                  </a:extLst>
                </a:gridCol>
                <a:gridCol w="981664">
                  <a:extLst>
                    <a:ext uri="{9D8B030D-6E8A-4147-A177-3AD203B41FA5}">
                      <a16:colId xmlns:a16="http://schemas.microsoft.com/office/drawing/2014/main" val="20001"/>
                    </a:ext>
                  </a:extLst>
                </a:gridCol>
                <a:gridCol w="1002454">
                  <a:extLst>
                    <a:ext uri="{9D8B030D-6E8A-4147-A177-3AD203B41FA5}">
                      <a16:colId xmlns:a16="http://schemas.microsoft.com/office/drawing/2014/main" val="20002"/>
                    </a:ext>
                  </a:extLst>
                </a:gridCol>
                <a:gridCol w="948266">
                  <a:extLst>
                    <a:ext uri="{9D8B030D-6E8A-4147-A177-3AD203B41FA5}">
                      <a16:colId xmlns:a16="http://schemas.microsoft.com/office/drawing/2014/main" val="20003"/>
                    </a:ext>
                  </a:extLst>
                </a:gridCol>
                <a:gridCol w="961814">
                  <a:extLst>
                    <a:ext uri="{9D8B030D-6E8A-4147-A177-3AD203B41FA5}">
                      <a16:colId xmlns:a16="http://schemas.microsoft.com/office/drawing/2014/main" val="20004"/>
                    </a:ext>
                  </a:extLst>
                </a:gridCol>
                <a:gridCol w="934720">
                  <a:extLst>
                    <a:ext uri="{9D8B030D-6E8A-4147-A177-3AD203B41FA5}">
                      <a16:colId xmlns:a16="http://schemas.microsoft.com/office/drawing/2014/main" val="20005"/>
                    </a:ext>
                  </a:extLst>
                </a:gridCol>
                <a:gridCol w="1043093">
                  <a:extLst>
                    <a:ext uri="{9D8B030D-6E8A-4147-A177-3AD203B41FA5}">
                      <a16:colId xmlns:a16="http://schemas.microsoft.com/office/drawing/2014/main" val="20006"/>
                    </a:ext>
                  </a:extLst>
                </a:gridCol>
              </a:tblGrid>
              <a:tr h="370840">
                <a:tc>
                  <a:txBody>
                    <a:bodyPr/>
                    <a:lstStyle/>
                    <a:p>
                      <a:endParaRPr lang="zh-CN" altLang="en-US" sz="1400" b="0" kern="120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interation1</a:t>
                      </a:r>
                      <a:endParaRPr lang="zh-CN" altLang="en-US"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interation2</a:t>
                      </a:r>
                      <a:endParaRPr lang="zh-CN" altLang="en-US"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interation3</a:t>
                      </a:r>
                      <a:endParaRPr lang="zh-CN" altLang="en-US"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interation3</a:t>
                      </a:r>
                      <a:endParaRPr lang="zh-CN" altLang="en-US"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intration4</a:t>
                      </a:r>
                      <a:endParaRPr lang="zh-CN" altLang="en-US"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interation5</a:t>
                      </a:r>
                      <a:endParaRPr lang="zh-CN" altLang="en-US" sz="11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0.2</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5.479</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5.34</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5.31</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0.1</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4.984</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4.92</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4.45</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r>
                        <a:rPr lang="en-US" altLang="zh-CN"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4.45</a:t>
                      </a:r>
                      <a:endParaRPr lang="zh-CN" altLang="en-US" sz="1400" b="0" kern="1200"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4" name="文本框 3"/>
          <p:cNvSpPr txBox="1"/>
          <p:nvPr/>
        </p:nvSpPr>
        <p:spPr>
          <a:xfrm>
            <a:off x="7270267" y="5796399"/>
            <a:ext cx="4584692" cy="369332"/>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挑选出一个距离为</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&lt;4A</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的构象用于后续模拟</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A71748E-C824-44A4-80B9-F8DE6AD98080}" type="slidenum">
              <a:rPr lang="zh-CN" altLang="en-US" smtClean="0"/>
              <a:t>8</a:t>
            </a:fld>
            <a:endParaRPr lang="zh-CN" altLang="en-US" dirty="0"/>
          </a:p>
        </p:txBody>
      </p:sp>
      <p:sp>
        <p:nvSpPr>
          <p:cNvPr id="3" name="文本框 2"/>
          <p:cNvSpPr txBox="1"/>
          <p:nvPr/>
        </p:nvSpPr>
        <p:spPr>
          <a:xfrm>
            <a:off x="1958051" y="126805"/>
            <a:ext cx="8275897"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Case : GLP1 negative allosteric modulators </a:t>
            </a:r>
            <a:endParaRPr lang="zh-CN" altLang="zh-CN" sz="24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19289" y="744593"/>
            <a:ext cx="6096000" cy="368300"/>
          </a:xfrm>
          <a:prstGeom prst="rect">
            <a:avLst/>
          </a:prstGeom>
          <a:noFill/>
        </p:spPr>
        <p:txBody>
          <a:bodyPr wrap="square">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step5</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MD(RAVE)</a:t>
            </a:r>
          </a:p>
        </p:txBody>
      </p:sp>
      <p:sp>
        <p:nvSpPr>
          <p:cNvPr id="6" name="文本框 5"/>
          <p:cNvSpPr txBox="1"/>
          <p:nvPr/>
        </p:nvSpPr>
        <p:spPr>
          <a:xfrm>
            <a:off x="519289" y="1161481"/>
            <a:ext cx="10075905" cy="2120902"/>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GPCRs</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的膜体系的搭建</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使用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CHARMM-GUI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服务器中的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AMBER20</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加性力场将它们插入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POPC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膜中。</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有约束的能量最小化</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有约束的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NVT</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NPT</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的短时间平衡模拟</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无约束的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NPT</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模拟</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rot="5400000">
            <a:off x="6870098" y="2134694"/>
            <a:ext cx="3907470" cy="4646252"/>
          </a:xfrm>
          <a:prstGeom prst="rect">
            <a:avLst/>
          </a:prstGeom>
        </p:spPr>
      </p:pic>
      <p:sp>
        <p:nvSpPr>
          <p:cNvPr id="11" name="文本框 10">
            <a:extLst>
              <a:ext uri="{FF2B5EF4-FFF2-40B4-BE49-F238E27FC236}">
                <a16:creationId xmlns:a16="http://schemas.microsoft.com/office/drawing/2014/main" id="{E551F011-78DE-4C95-925D-C9EAC47D4173}"/>
              </a:ext>
            </a:extLst>
          </p:cNvPr>
          <p:cNvSpPr txBox="1"/>
          <p:nvPr/>
        </p:nvSpPr>
        <p:spPr>
          <a:xfrm>
            <a:off x="519289" y="3855394"/>
            <a:ext cx="6096000" cy="2126159"/>
          </a:xfrm>
          <a:prstGeom prst="rect">
            <a:avLst/>
          </a:prstGeom>
          <a:noFill/>
        </p:spPr>
        <p:txBody>
          <a:bodyPr wrap="square">
            <a:spAutoFit/>
          </a:bodyPr>
          <a:lstStyle/>
          <a:p>
            <a:pPr>
              <a:lnSpc>
                <a:spcPct val="15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CVs</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特征的选择</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蛋白所有残基的二面角</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变构结合位点残基的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total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sasa</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变构口袋</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残基的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total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sasa</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变构结合位点残基对的距离</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4A3F36-F22C-4996-959C-33CC2630174D}"/>
              </a:ext>
            </a:extLst>
          </p:cNvPr>
          <p:cNvSpPr>
            <a:spLocks noGrp="1"/>
          </p:cNvSpPr>
          <p:nvPr>
            <p:ph type="sldNum" sz="quarter" idx="12"/>
          </p:nvPr>
        </p:nvSpPr>
        <p:spPr/>
        <p:txBody>
          <a:bodyPr/>
          <a:lstStyle/>
          <a:p>
            <a:fld id="{CA71748E-C824-44A4-80B9-F8DE6AD98080}" type="slidenum">
              <a:rPr lang="zh-CN" altLang="en-US" smtClean="0"/>
              <a:pPr/>
              <a:t>9</a:t>
            </a:fld>
            <a:endParaRPr lang="zh-CN" altLang="en-US" dirty="0"/>
          </a:p>
        </p:txBody>
      </p:sp>
      <p:sp>
        <p:nvSpPr>
          <p:cNvPr id="3" name="文本框 2">
            <a:extLst>
              <a:ext uri="{FF2B5EF4-FFF2-40B4-BE49-F238E27FC236}">
                <a16:creationId xmlns:a16="http://schemas.microsoft.com/office/drawing/2014/main" id="{3C0D98AD-D73B-4801-82DF-AC8455278070}"/>
              </a:ext>
            </a:extLst>
          </p:cNvPr>
          <p:cNvSpPr txBox="1"/>
          <p:nvPr/>
        </p:nvSpPr>
        <p:spPr>
          <a:xfrm>
            <a:off x="3149513" y="82837"/>
            <a:ext cx="6097903"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GLP1</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3F67880C-A8FA-49F1-9BB2-ABE6F138FB60}"/>
              </a:ext>
            </a:extLst>
          </p:cNvPr>
          <p:cNvSpPr txBox="1"/>
          <p:nvPr/>
        </p:nvSpPr>
        <p:spPr>
          <a:xfrm>
            <a:off x="235529" y="758538"/>
            <a:ext cx="9521536" cy="646331"/>
          </a:xfrm>
          <a:prstGeom prst="rect">
            <a:avLst/>
          </a:prstGeom>
          <a:noFill/>
        </p:spPr>
        <p:txBody>
          <a:bodyPr wrap="square" rtlCol="0">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轨迹</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指定残基形成口袋体积</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针对挑选构象进行虚筛</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FA26783E-A043-4550-A617-E095E862F1D6}"/>
              </a:ext>
            </a:extLst>
          </p:cNvPr>
          <p:cNvSpPr txBox="1"/>
          <p:nvPr/>
        </p:nvSpPr>
        <p:spPr>
          <a:xfrm>
            <a:off x="346641" y="1534578"/>
            <a:ext cx="6096000" cy="338554"/>
          </a:xfrm>
          <a:prstGeom prst="rect">
            <a:avLst/>
          </a:prstGeom>
          <a:noFill/>
        </p:spPr>
        <p:txBody>
          <a:bodyPr wrap="square">
            <a:spAutoFit/>
          </a:bodyPr>
          <a:lstStyle/>
          <a:p>
            <a:pPr algn="just"/>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Af_calseq_md_biased_distance_50ns</a:t>
            </a:r>
            <a:endParaRPr lang="zh-CN"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图片 10">
            <a:extLst>
              <a:ext uri="{FF2B5EF4-FFF2-40B4-BE49-F238E27FC236}">
                <a16:creationId xmlns:a16="http://schemas.microsoft.com/office/drawing/2014/main" id="{8B24AE70-BE9B-4D15-9033-E8879343FA2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938" y="4687755"/>
            <a:ext cx="7663942" cy="1800000"/>
          </a:xfrm>
          <a:prstGeom prst="rect">
            <a:avLst/>
          </a:prstGeom>
          <a:noFill/>
          <a:ln>
            <a:noFill/>
          </a:ln>
        </p:spPr>
      </p:pic>
      <p:pic>
        <p:nvPicPr>
          <p:cNvPr id="12" name="图片 11">
            <a:extLst>
              <a:ext uri="{FF2B5EF4-FFF2-40B4-BE49-F238E27FC236}">
                <a16:creationId xmlns:a16="http://schemas.microsoft.com/office/drawing/2014/main" id="{706C4264-3F39-45DA-8061-9E1FB147D26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002841"/>
            <a:ext cx="7802880" cy="1800000"/>
          </a:xfrm>
          <a:prstGeom prst="rect">
            <a:avLst/>
          </a:prstGeom>
          <a:noFill/>
          <a:ln>
            <a:noFill/>
          </a:ln>
        </p:spPr>
      </p:pic>
      <p:sp>
        <p:nvSpPr>
          <p:cNvPr id="13" name="文本框 12">
            <a:extLst>
              <a:ext uri="{FF2B5EF4-FFF2-40B4-BE49-F238E27FC236}">
                <a16:creationId xmlns:a16="http://schemas.microsoft.com/office/drawing/2014/main" id="{D83589EF-6B54-40D9-B9D7-082205D0B871}"/>
              </a:ext>
            </a:extLst>
          </p:cNvPr>
          <p:cNvSpPr txBox="1"/>
          <p:nvPr/>
        </p:nvSpPr>
        <p:spPr>
          <a:xfrm>
            <a:off x="346641" y="4076021"/>
            <a:ext cx="6096000" cy="338554"/>
          </a:xfrm>
          <a:prstGeom prst="rect">
            <a:avLst/>
          </a:prstGeom>
          <a:noFill/>
        </p:spPr>
        <p:txBody>
          <a:bodyPr wrap="square">
            <a:spAutoFit/>
          </a:bodyPr>
          <a:lstStyle/>
          <a:p>
            <a:pPr algn="just"/>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Af_calseq_md_biased_sasa_50ns</a:t>
            </a:r>
            <a:endParaRPr lang="zh-CN"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F4A73021-2F2C-4A62-873B-96A3CBB3391E}"/>
              </a:ext>
            </a:extLst>
          </p:cNvPr>
          <p:cNvCxnSpPr>
            <a:cxnSpLocks/>
          </p:cNvCxnSpPr>
          <p:nvPr/>
        </p:nvCxnSpPr>
        <p:spPr>
          <a:xfrm>
            <a:off x="577874" y="5639710"/>
            <a:ext cx="7485888" cy="0"/>
          </a:xfrm>
          <a:prstGeom prst="line">
            <a:avLst/>
          </a:prstGeom>
          <a:ln w="12700">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15" name="直接连接符 14">
            <a:extLst>
              <a:ext uri="{FF2B5EF4-FFF2-40B4-BE49-F238E27FC236}">
                <a16:creationId xmlns:a16="http://schemas.microsoft.com/office/drawing/2014/main" id="{DF2B5B48-186D-4BBD-B7CB-80E27771B2A1}"/>
              </a:ext>
            </a:extLst>
          </p:cNvPr>
          <p:cNvCxnSpPr>
            <a:cxnSpLocks/>
          </p:cNvCxnSpPr>
          <p:nvPr/>
        </p:nvCxnSpPr>
        <p:spPr>
          <a:xfrm>
            <a:off x="384467" y="2749211"/>
            <a:ext cx="7485888" cy="0"/>
          </a:xfrm>
          <a:prstGeom prst="line">
            <a:avLst/>
          </a:prstGeom>
          <a:ln w="12700">
            <a:solidFill>
              <a:srgbClr val="C00000"/>
            </a:solidFill>
          </a:ln>
        </p:spPr>
        <p:style>
          <a:lnRef idx="1">
            <a:schemeClr val="accent2"/>
          </a:lnRef>
          <a:fillRef idx="0">
            <a:schemeClr val="accent2"/>
          </a:fillRef>
          <a:effectRef idx="0">
            <a:schemeClr val="accent2"/>
          </a:effectRef>
          <a:fontRef idx="minor">
            <a:schemeClr val="tx1"/>
          </a:fontRef>
        </p:style>
      </p:cxnSp>
      <p:sp>
        <p:nvSpPr>
          <p:cNvPr id="16" name="文本框 15">
            <a:extLst>
              <a:ext uri="{FF2B5EF4-FFF2-40B4-BE49-F238E27FC236}">
                <a16:creationId xmlns:a16="http://schemas.microsoft.com/office/drawing/2014/main" id="{1EFF0998-F7B4-4E2B-A06B-6F904DD355AB}"/>
              </a:ext>
            </a:extLst>
          </p:cNvPr>
          <p:cNvSpPr txBox="1"/>
          <p:nvPr/>
        </p:nvSpPr>
        <p:spPr>
          <a:xfrm>
            <a:off x="8502698" y="2221477"/>
            <a:ext cx="2919568" cy="3877985"/>
          </a:xfrm>
          <a:prstGeom prst="rect">
            <a:avLst/>
          </a:prstGeom>
          <a:noFill/>
        </p:spPr>
        <p:txBody>
          <a:bodyPr wrap="square" rtlCol="0">
            <a:spAutoFit/>
          </a:bodyPr>
          <a:lstStyle/>
          <a:p>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Distance:</a:t>
            </a:r>
          </a:p>
          <a:p>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TM6/TM7</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残基对之间的距离</a:t>
            </a:r>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Sasa</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p>
          <a:p>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Step3</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输出的关键残基及其</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2A</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范围形成口袋的</a:t>
            </a:r>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sasa</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分数</a:t>
            </a:r>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a:p>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结论：</a:t>
            </a:r>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af_calseq</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流程挑选出的偏好构象，进一步利用</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RAVE</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框架的</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biased md</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，可以采样出关键残基打开口袋状态的构象。</a:t>
            </a:r>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p>
          <a:p>
            <a:endParaRPr lang="zh-CN" altLang="en-US" dirty="0"/>
          </a:p>
        </p:txBody>
      </p:sp>
    </p:spTree>
    <p:extLst>
      <p:ext uri="{BB962C8B-B14F-4D97-AF65-F5344CB8AC3E}">
        <p14:creationId xmlns:p14="http://schemas.microsoft.com/office/powerpoint/2010/main" val="3028716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4A3F36-F22C-4996-959C-33CC2630174D}"/>
              </a:ext>
            </a:extLst>
          </p:cNvPr>
          <p:cNvSpPr>
            <a:spLocks noGrp="1"/>
          </p:cNvSpPr>
          <p:nvPr>
            <p:ph type="sldNum" sz="quarter" idx="12"/>
          </p:nvPr>
        </p:nvSpPr>
        <p:spPr/>
        <p:txBody>
          <a:bodyPr/>
          <a:lstStyle/>
          <a:p>
            <a:fld id="{CA71748E-C824-44A4-80B9-F8DE6AD98080}" type="slidenum">
              <a:rPr lang="zh-CN" altLang="en-US" smtClean="0"/>
              <a:pPr/>
              <a:t>10</a:t>
            </a:fld>
            <a:endParaRPr lang="zh-CN" altLang="en-US" dirty="0"/>
          </a:p>
        </p:txBody>
      </p:sp>
      <p:sp>
        <p:nvSpPr>
          <p:cNvPr id="3" name="文本框 2">
            <a:extLst>
              <a:ext uri="{FF2B5EF4-FFF2-40B4-BE49-F238E27FC236}">
                <a16:creationId xmlns:a16="http://schemas.microsoft.com/office/drawing/2014/main" id="{3C0D98AD-D73B-4801-82DF-AC8455278070}"/>
              </a:ext>
            </a:extLst>
          </p:cNvPr>
          <p:cNvSpPr txBox="1"/>
          <p:nvPr/>
        </p:nvSpPr>
        <p:spPr>
          <a:xfrm>
            <a:off x="3149513" y="82837"/>
            <a:ext cx="6097903"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GLP1</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3F67880C-A8FA-49F1-9BB2-ABE6F138FB60}"/>
              </a:ext>
            </a:extLst>
          </p:cNvPr>
          <p:cNvSpPr txBox="1"/>
          <p:nvPr/>
        </p:nvSpPr>
        <p:spPr>
          <a:xfrm>
            <a:off x="235529" y="758538"/>
            <a:ext cx="9521536" cy="646331"/>
          </a:xfrm>
          <a:prstGeom prst="rect">
            <a:avLst/>
          </a:prstGeom>
          <a:noFill/>
        </p:spPr>
        <p:txBody>
          <a:bodyPr wrap="square" rtlCol="0">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轨迹</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指定残基形成口袋体积</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针对挑选构象进行虚筛</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FA26783E-A043-4550-A617-E095E862F1D6}"/>
              </a:ext>
            </a:extLst>
          </p:cNvPr>
          <p:cNvSpPr txBox="1"/>
          <p:nvPr/>
        </p:nvSpPr>
        <p:spPr>
          <a:xfrm>
            <a:off x="381001" y="1517679"/>
            <a:ext cx="10394372" cy="1569660"/>
          </a:xfrm>
          <a:prstGeom prst="rect">
            <a:avLst/>
          </a:prstGeom>
          <a:noFill/>
        </p:spPr>
        <p:txBody>
          <a:bodyPr wrap="square">
            <a:spAutoFit/>
          </a:bodyPr>
          <a:lstStyle/>
          <a:p>
            <a:pPr algn="just"/>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Vina</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p>
          <a:p>
            <a:pPr algn="just"/>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构象的</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-8.983</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轨迹</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小于</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的占</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25/500</a:t>
            </a:r>
          </a:p>
          <a:p>
            <a:pPr algn="just"/>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关键残基组成的口袋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backbone </a:t>
            </a: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跟</a:t>
            </a:r>
            <a:r>
              <a:rPr lang="en-US" altLang="zh-CN" sz="1600" b="1" dirty="0" err="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构象比较  </a:t>
            </a:r>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rmsd</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分布在</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2.5-6.4A. </a:t>
            </a:r>
          </a:p>
          <a:p>
            <a:pPr algn="just"/>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结论：可以拿到和</a:t>
            </a:r>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构象与变构配体结合姿势相似的构象，并且</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更好。</a:t>
            </a:r>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并且出现其他结合姿势，可能具备抑制剂的特征，阻碍</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TM6</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外旋。</a:t>
            </a:r>
            <a:endPar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4B445901-3660-40E5-8252-8D35B445CA6B}"/>
              </a:ext>
            </a:extLst>
          </p:cNvPr>
          <p:cNvPicPr>
            <a:picLocks noChangeAspect="1"/>
          </p:cNvPicPr>
          <p:nvPr/>
        </p:nvPicPr>
        <p:blipFill>
          <a:blip r:embed="rId2"/>
          <a:stretch>
            <a:fillRect/>
          </a:stretch>
        </p:blipFill>
        <p:spPr>
          <a:xfrm>
            <a:off x="381001" y="3174524"/>
            <a:ext cx="2907732" cy="3230098"/>
          </a:xfrm>
          <a:prstGeom prst="rect">
            <a:avLst/>
          </a:prstGeom>
        </p:spPr>
      </p:pic>
      <p:sp>
        <p:nvSpPr>
          <p:cNvPr id="11" name="文本框 10">
            <a:extLst>
              <a:ext uri="{FF2B5EF4-FFF2-40B4-BE49-F238E27FC236}">
                <a16:creationId xmlns:a16="http://schemas.microsoft.com/office/drawing/2014/main" id="{5B92870D-DD7E-4C61-B933-8DBF39757BFD}"/>
              </a:ext>
            </a:extLst>
          </p:cNvPr>
          <p:cNvSpPr txBox="1"/>
          <p:nvPr/>
        </p:nvSpPr>
        <p:spPr>
          <a:xfrm>
            <a:off x="235529" y="6483548"/>
            <a:ext cx="3401753" cy="338554"/>
          </a:xfrm>
          <a:prstGeom prst="rect">
            <a:avLst/>
          </a:prstGeom>
          <a:noFill/>
        </p:spPr>
        <p:txBody>
          <a:bodyPr wrap="square">
            <a:spAutoFit/>
          </a:bodyPr>
          <a:lstStyle/>
          <a:p>
            <a:r>
              <a:rPr lang="en-US" altLang="zh-CN" sz="16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Holo</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 </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 : -8.983</a:t>
            </a:r>
            <a:endParaRPr lang="zh-CN" altLang="en-US" sz="1600" dirty="0"/>
          </a:p>
        </p:txBody>
      </p:sp>
      <p:pic>
        <p:nvPicPr>
          <p:cNvPr id="9" name="图片 8">
            <a:extLst>
              <a:ext uri="{FF2B5EF4-FFF2-40B4-BE49-F238E27FC236}">
                <a16:creationId xmlns:a16="http://schemas.microsoft.com/office/drawing/2014/main" id="{91E94D16-E1A8-4573-A553-3AD219164CC0}"/>
              </a:ext>
            </a:extLst>
          </p:cNvPr>
          <p:cNvPicPr>
            <a:picLocks noChangeAspect="1"/>
          </p:cNvPicPr>
          <p:nvPr/>
        </p:nvPicPr>
        <p:blipFill>
          <a:blip r:embed="rId3"/>
          <a:stretch>
            <a:fillRect/>
          </a:stretch>
        </p:blipFill>
        <p:spPr>
          <a:xfrm>
            <a:off x="3710018" y="3261473"/>
            <a:ext cx="3736338" cy="3056200"/>
          </a:xfrm>
          <a:prstGeom prst="rect">
            <a:avLst/>
          </a:prstGeom>
        </p:spPr>
      </p:pic>
      <p:sp>
        <p:nvSpPr>
          <p:cNvPr id="14" name="文本框 13">
            <a:extLst>
              <a:ext uri="{FF2B5EF4-FFF2-40B4-BE49-F238E27FC236}">
                <a16:creationId xmlns:a16="http://schemas.microsoft.com/office/drawing/2014/main" id="{ED898417-7976-419F-934A-8AFFE07FB11B}"/>
              </a:ext>
            </a:extLst>
          </p:cNvPr>
          <p:cNvSpPr txBox="1"/>
          <p:nvPr/>
        </p:nvSpPr>
        <p:spPr>
          <a:xfrm>
            <a:off x="3742227" y="6473157"/>
            <a:ext cx="3736338" cy="338554"/>
          </a:xfrm>
          <a:prstGeom prst="rect">
            <a:avLst/>
          </a:prstGeom>
          <a:noFill/>
        </p:spPr>
        <p:txBody>
          <a:bodyPr wrap="square">
            <a:spAutoFit/>
          </a:bodyPr>
          <a:lstStyle/>
          <a:p>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frame141</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 </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 : -9.636</a:t>
            </a:r>
            <a:endParaRPr lang="zh-CN" altLang="en-US" sz="1600" dirty="0"/>
          </a:p>
        </p:txBody>
      </p:sp>
      <p:pic>
        <p:nvPicPr>
          <p:cNvPr id="13" name="图片 12">
            <a:extLst>
              <a:ext uri="{FF2B5EF4-FFF2-40B4-BE49-F238E27FC236}">
                <a16:creationId xmlns:a16="http://schemas.microsoft.com/office/drawing/2014/main" id="{B4B9B6B1-121B-4EDF-A550-A9A9FE377CBD}"/>
              </a:ext>
            </a:extLst>
          </p:cNvPr>
          <p:cNvPicPr>
            <a:picLocks noChangeAspect="1"/>
          </p:cNvPicPr>
          <p:nvPr/>
        </p:nvPicPr>
        <p:blipFill>
          <a:blip r:embed="rId4"/>
          <a:stretch>
            <a:fillRect/>
          </a:stretch>
        </p:blipFill>
        <p:spPr>
          <a:xfrm>
            <a:off x="7931709" y="3166265"/>
            <a:ext cx="3371486" cy="3246616"/>
          </a:xfrm>
          <a:prstGeom prst="rect">
            <a:avLst/>
          </a:prstGeom>
        </p:spPr>
      </p:pic>
      <p:sp>
        <p:nvSpPr>
          <p:cNvPr id="17" name="文本框 16">
            <a:extLst>
              <a:ext uri="{FF2B5EF4-FFF2-40B4-BE49-F238E27FC236}">
                <a16:creationId xmlns:a16="http://schemas.microsoft.com/office/drawing/2014/main" id="{91F05B1F-AD45-491C-A3E6-4AC3B036F0DE}"/>
              </a:ext>
            </a:extLst>
          </p:cNvPr>
          <p:cNvSpPr txBox="1"/>
          <p:nvPr/>
        </p:nvSpPr>
        <p:spPr>
          <a:xfrm>
            <a:off x="7979738" y="6479705"/>
            <a:ext cx="3736338" cy="338554"/>
          </a:xfrm>
          <a:prstGeom prst="rect">
            <a:avLst/>
          </a:prstGeom>
          <a:noFill/>
        </p:spPr>
        <p:txBody>
          <a:bodyPr wrap="square">
            <a:spAutoFit/>
          </a:bodyPr>
          <a:lstStyle/>
          <a:p>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frame500</a:t>
            </a:r>
            <a:r>
              <a:rPr lang="zh-CN" altLang="en-US"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构象 </a:t>
            </a:r>
            <a:r>
              <a:rPr lang="en-US" altLang="zh-CN" sz="16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 : -10.573</a:t>
            </a:r>
            <a:endParaRPr lang="zh-CN" altLang="en-US" sz="1600" dirty="0"/>
          </a:p>
        </p:txBody>
      </p:sp>
    </p:spTree>
    <p:extLst>
      <p:ext uri="{BB962C8B-B14F-4D97-AF65-F5344CB8AC3E}">
        <p14:creationId xmlns:p14="http://schemas.microsoft.com/office/powerpoint/2010/main" val="13962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4A3F36-F22C-4996-959C-33CC2630174D}"/>
              </a:ext>
            </a:extLst>
          </p:cNvPr>
          <p:cNvSpPr>
            <a:spLocks noGrp="1"/>
          </p:cNvSpPr>
          <p:nvPr>
            <p:ph type="sldNum" sz="quarter" idx="12"/>
          </p:nvPr>
        </p:nvSpPr>
        <p:spPr/>
        <p:txBody>
          <a:bodyPr/>
          <a:lstStyle/>
          <a:p>
            <a:fld id="{CA71748E-C824-44A4-80B9-F8DE6AD98080}" type="slidenum">
              <a:rPr lang="zh-CN" altLang="en-US" smtClean="0"/>
              <a:pPr/>
              <a:t>11</a:t>
            </a:fld>
            <a:endParaRPr lang="zh-CN" altLang="en-US" dirty="0"/>
          </a:p>
        </p:txBody>
      </p:sp>
      <p:sp>
        <p:nvSpPr>
          <p:cNvPr id="3" name="文本框 2">
            <a:extLst>
              <a:ext uri="{FF2B5EF4-FFF2-40B4-BE49-F238E27FC236}">
                <a16:creationId xmlns:a16="http://schemas.microsoft.com/office/drawing/2014/main" id="{3C0D98AD-D73B-4801-82DF-AC8455278070}"/>
              </a:ext>
            </a:extLst>
          </p:cNvPr>
          <p:cNvSpPr txBox="1"/>
          <p:nvPr/>
        </p:nvSpPr>
        <p:spPr>
          <a:xfrm>
            <a:off x="3149513" y="82837"/>
            <a:ext cx="6097903"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GLP1</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3F67880C-A8FA-49F1-9BB2-ABE6F138FB60}"/>
              </a:ext>
            </a:extLst>
          </p:cNvPr>
          <p:cNvSpPr txBox="1"/>
          <p:nvPr/>
        </p:nvSpPr>
        <p:spPr>
          <a:xfrm>
            <a:off x="235529" y="758538"/>
            <a:ext cx="9521536" cy="646331"/>
          </a:xfrm>
          <a:prstGeom prst="rect">
            <a:avLst/>
          </a:prstGeom>
          <a:noFill/>
        </p:spPr>
        <p:txBody>
          <a:bodyPr wrap="square" rtlCol="0">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轨迹</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指定残基形成口袋体积</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针对挑选构象进行虚筛</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91F05B1F-AD45-491C-A3E6-4AC3B036F0DE}"/>
              </a:ext>
            </a:extLst>
          </p:cNvPr>
          <p:cNvSpPr txBox="1"/>
          <p:nvPr/>
        </p:nvSpPr>
        <p:spPr>
          <a:xfrm>
            <a:off x="349228" y="2828835"/>
            <a:ext cx="3736338" cy="1200329"/>
          </a:xfrm>
          <a:prstGeom prst="rect">
            <a:avLst/>
          </a:prstGeom>
          <a:noFill/>
        </p:spPr>
        <p:txBody>
          <a:bodyPr wrap="square">
            <a:spAutoFit/>
          </a:bodyPr>
          <a:lstStyle/>
          <a:p>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Karmadock</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Chemdiv</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~140W </a:t>
            </a: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Max score : 69.55</a:t>
            </a: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&gt;40  794</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个分子</a:t>
            </a:r>
          </a:p>
        </p:txBody>
      </p:sp>
      <p:pic>
        <p:nvPicPr>
          <p:cNvPr id="7" name="图片 6">
            <a:extLst>
              <a:ext uri="{FF2B5EF4-FFF2-40B4-BE49-F238E27FC236}">
                <a16:creationId xmlns:a16="http://schemas.microsoft.com/office/drawing/2014/main" id="{5785C010-B4AF-4A38-8B1D-EAFDD1F6E98E}"/>
              </a:ext>
            </a:extLst>
          </p:cNvPr>
          <p:cNvPicPr>
            <a:picLocks noChangeAspect="1"/>
          </p:cNvPicPr>
          <p:nvPr/>
        </p:nvPicPr>
        <p:blipFill>
          <a:blip r:embed="rId2"/>
          <a:stretch>
            <a:fillRect/>
          </a:stretch>
        </p:blipFill>
        <p:spPr>
          <a:xfrm>
            <a:off x="3279228" y="1805760"/>
            <a:ext cx="5633544" cy="4293702"/>
          </a:xfrm>
          <a:prstGeom prst="rect">
            <a:avLst/>
          </a:prstGeom>
        </p:spPr>
      </p:pic>
    </p:spTree>
    <p:extLst>
      <p:ext uri="{BB962C8B-B14F-4D97-AF65-F5344CB8AC3E}">
        <p14:creationId xmlns:p14="http://schemas.microsoft.com/office/powerpoint/2010/main" val="2573906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58A55A82-BED0-467C-BC8B-8C6BCA030A85}"/>
              </a:ext>
            </a:extLst>
          </p:cNvPr>
          <p:cNvPicPr>
            <a:picLocks noChangeAspect="1"/>
          </p:cNvPicPr>
          <p:nvPr/>
        </p:nvPicPr>
        <p:blipFill>
          <a:blip r:embed="rId2"/>
          <a:stretch>
            <a:fillRect/>
          </a:stretch>
        </p:blipFill>
        <p:spPr>
          <a:xfrm rot="2625323">
            <a:off x="7463964" y="3526104"/>
            <a:ext cx="2034048" cy="2118362"/>
          </a:xfrm>
          <a:prstGeom prst="rect">
            <a:avLst/>
          </a:prstGeom>
        </p:spPr>
      </p:pic>
      <p:sp>
        <p:nvSpPr>
          <p:cNvPr id="2" name="灯片编号占位符 1">
            <a:extLst>
              <a:ext uri="{FF2B5EF4-FFF2-40B4-BE49-F238E27FC236}">
                <a16:creationId xmlns:a16="http://schemas.microsoft.com/office/drawing/2014/main" id="{264A3F36-F22C-4996-959C-33CC2630174D}"/>
              </a:ext>
            </a:extLst>
          </p:cNvPr>
          <p:cNvSpPr>
            <a:spLocks noGrp="1"/>
          </p:cNvSpPr>
          <p:nvPr>
            <p:ph type="sldNum" sz="quarter" idx="12"/>
          </p:nvPr>
        </p:nvSpPr>
        <p:spPr/>
        <p:txBody>
          <a:bodyPr/>
          <a:lstStyle/>
          <a:p>
            <a:fld id="{CA71748E-C824-44A4-80B9-F8DE6AD98080}" type="slidenum">
              <a:rPr lang="zh-CN" altLang="en-US" smtClean="0"/>
              <a:pPr/>
              <a:t>12</a:t>
            </a:fld>
            <a:endParaRPr lang="zh-CN" altLang="en-US" dirty="0"/>
          </a:p>
        </p:txBody>
      </p:sp>
      <p:sp>
        <p:nvSpPr>
          <p:cNvPr id="3" name="文本框 2">
            <a:extLst>
              <a:ext uri="{FF2B5EF4-FFF2-40B4-BE49-F238E27FC236}">
                <a16:creationId xmlns:a16="http://schemas.microsoft.com/office/drawing/2014/main" id="{3C0D98AD-D73B-4801-82DF-AC8455278070}"/>
              </a:ext>
            </a:extLst>
          </p:cNvPr>
          <p:cNvSpPr txBox="1"/>
          <p:nvPr/>
        </p:nvSpPr>
        <p:spPr>
          <a:xfrm>
            <a:off x="3149513" y="82837"/>
            <a:ext cx="6097903" cy="461665"/>
          </a:xfrm>
          <a:prstGeom prst="rect">
            <a:avLst/>
          </a:prstGeom>
          <a:noFill/>
        </p:spPr>
        <p:txBody>
          <a:bodyPr wrap="square">
            <a:spAutoFit/>
          </a:bodyPr>
          <a:lstStyle/>
          <a:p>
            <a:pPr algn="ctr">
              <a:defRPr/>
            </a:pPr>
            <a:r>
              <a:rPr lang="en-US" altLang="zh-CN" sz="2400" b="1" dirty="0">
                <a:solidFill>
                  <a:schemeClr val="bg1"/>
                </a:solidFill>
                <a:latin typeface="微软雅黑" panose="020B0503020204020204" pitchFamily="34" charset="-122"/>
                <a:ea typeface="微软雅黑" panose="020B0503020204020204" pitchFamily="34" charset="-122"/>
              </a:rPr>
              <a:t>GLP1</a:t>
            </a:r>
            <a:endParaRPr lang="zh-CN" altLang="zh-CN" sz="24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3F67880C-A8FA-49F1-9BB2-ABE6F138FB60}"/>
              </a:ext>
            </a:extLst>
          </p:cNvPr>
          <p:cNvSpPr txBox="1"/>
          <p:nvPr/>
        </p:nvSpPr>
        <p:spPr>
          <a:xfrm>
            <a:off x="235529" y="758538"/>
            <a:ext cx="9521536" cy="646331"/>
          </a:xfrm>
          <a:prstGeom prst="rect">
            <a:avLst/>
          </a:prstGeom>
          <a:noFill/>
        </p:spPr>
        <p:txBody>
          <a:bodyPr wrap="square" rtlCol="0">
            <a:spAutoFit/>
          </a:bodyPr>
          <a:lstStyle/>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MD</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轨迹</a:t>
            </a:r>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指定残基形成口袋体积</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针对挑选构象进行虚筛</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91F05B1F-AD45-491C-A3E6-4AC3B036F0DE}"/>
              </a:ext>
            </a:extLst>
          </p:cNvPr>
          <p:cNvSpPr txBox="1"/>
          <p:nvPr/>
        </p:nvSpPr>
        <p:spPr>
          <a:xfrm>
            <a:off x="538881" y="1718009"/>
            <a:ext cx="5427579" cy="1200329"/>
          </a:xfrm>
          <a:prstGeom prst="rect">
            <a:avLst/>
          </a:prstGeom>
          <a:noFill/>
        </p:spPr>
        <p:txBody>
          <a:bodyPr wrap="square">
            <a:spAutoFit/>
          </a:bodyPr>
          <a:lstStyle/>
          <a:p>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Chemdiv</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~140W      </a:t>
            </a: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Karmadock</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得分排名前</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20w</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的分子用于</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SP</a:t>
            </a:r>
          </a:p>
          <a:p>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SP</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得分排名靠前的</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1w</a:t>
            </a:r>
            <a:r>
              <a:rPr lang="zh-CN" altLang="en-US"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的分子用于</a:t>
            </a:r>
            <a:r>
              <a:rPr lang="en-US" altLang="zh-CN"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XP</a:t>
            </a:r>
          </a:p>
          <a:p>
            <a:endParaRPr lang="en-US" altLang="zh-CN"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6256ED97-77C7-4810-89A2-B598C7D63AF2}"/>
              </a:ext>
            </a:extLst>
          </p:cNvPr>
          <p:cNvPicPr>
            <a:picLocks noChangeAspect="1"/>
          </p:cNvPicPr>
          <p:nvPr/>
        </p:nvPicPr>
        <p:blipFill>
          <a:blip r:embed="rId3"/>
          <a:stretch>
            <a:fillRect/>
          </a:stretch>
        </p:blipFill>
        <p:spPr>
          <a:xfrm>
            <a:off x="677815" y="3231478"/>
            <a:ext cx="3498370" cy="1989488"/>
          </a:xfrm>
          <a:prstGeom prst="rect">
            <a:avLst/>
          </a:prstGeom>
        </p:spPr>
      </p:pic>
      <p:pic>
        <p:nvPicPr>
          <p:cNvPr id="11" name="图片 10">
            <a:extLst>
              <a:ext uri="{FF2B5EF4-FFF2-40B4-BE49-F238E27FC236}">
                <a16:creationId xmlns:a16="http://schemas.microsoft.com/office/drawing/2014/main" id="{A3ED3CF8-0AAE-4DC5-9B1F-7A782CD8EC74}"/>
              </a:ext>
            </a:extLst>
          </p:cNvPr>
          <p:cNvPicPr>
            <a:picLocks noChangeAspect="1"/>
          </p:cNvPicPr>
          <p:nvPr/>
        </p:nvPicPr>
        <p:blipFill>
          <a:blip r:embed="rId4"/>
          <a:stretch>
            <a:fillRect/>
          </a:stretch>
        </p:blipFill>
        <p:spPr>
          <a:xfrm>
            <a:off x="6225542" y="1508301"/>
            <a:ext cx="2912706" cy="1998136"/>
          </a:xfrm>
          <a:prstGeom prst="rect">
            <a:avLst/>
          </a:prstGeom>
        </p:spPr>
      </p:pic>
      <p:pic>
        <p:nvPicPr>
          <p:cNvPr id="13" name="图片 12">
            <a:extLst>
              <a:ext uri="{FF2B5EF4-FFF2-40B4-BE49-F238E27FC236}">
                <a16:creationId xmlns:a16="http://schemas.microsoft.com/office/drawing/2014/main" id="{83FDE731-A199-42B3-8196-202883B47C8C}"/>
              </a:ext>
            </a:extLst>
          </p:cNvPr>
          <p:cNvPicPr>
            <a:picLocks noChangeAspect="1"/>
          </p:cNvPicPr>
          <p:nvPr/>
        </p:nvPicPr>
        <p:blipFill>
          <a:blip r:embed="rId5"/>
          <a:stretch>
            <a:fillRect/>
          </a:stretch>
        </p:blipFill>
        <p:spPr>
          <a:xfrm>
            <a:off x="9361573" y="1305728"/>
            <a:ext cx="2594898" cy="2312076"/>
          </a:xfrm>
          <a:prstGeom prst="rect">
            <a:avLst/>
          </a:prstGeom>
        </p:spPr>
      </p:pic>
      <p:sp>
        <p:nvSpPr>
          <p:cNvPr id="16" name="文本框 15">
            <a:extLst>
              <a:ext uri="{FF2B5EF4-FFF2-40B4-BE49-F238E27FC236}">
                <a16:creationId xmlns:a16="http://schemas.microsoft.com/office/drawing/2014/main" id="{1BFAC823-614F-44FC-8018-36D743264B96}"/>
              </a:ext>
            </a:extLst>
          </p:cNvPr>
          <p:cNvSpPr txBox="1"/>
          <p:nvPr/>
        </p:nvSpPr>
        <p:spPr>
          <a:xfrm>
            <a:off x="1264950" y="5707865"/>
            <a:ext cx="2324100" cy="307777"/>
          </a:xfrm>
          <a:prstGeom prst="rect">
            <a:avLst/>
          </a:prstGeom>
          <a:noFill/>
        </p:spPr>
        <p:txBody>
          <a:bodyPr wrap="square">
            <a:spAutoFit/>
          </a:bodyPr>
          <a:lstStyle/>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GLP1-Holo-liagnd</a:t>
            </a:r>
            <a:endParaRPr lang="zh-CN" altLang="en-US" sz="1400" dirty="0"/>
          </a:p>
        </p:txBody>
      </p:sp>
      <p:sp>
        <p:nvSpPr>
          <p:cNvPr id="18" name="文本框 17">
            <a:extLst>
              <a:ext uri="{FF2B5EF4-FFF2-40B4-BE49-F238E27FC236}">
                <a16:creationId xmlns:a16="http://schemas.microsoft.com/office/drawing/2014/main" id="{E6A5BF4E-4D52-4199-88D4-D6C9D9B2AD0C}"/>
              </a:ext>
            </a:extLst>
          </p:cNvPr>
          <p:cNvSpPr txBox="1"/>
          <p:nvPr/>
        </p:nvSpPr>
        <p:spPr>
          <a:xfrm>
            <a:off x="6568673" y="3744095"/>
            <a:ext cx="2226443" cy="307777"/>
          </a:xfrm>
          <a:prstGeom prst="rect">
            <a:avLst/>
          </a:prstGeom>
          <a:noFill/>
        </p:spPr>
        <p:txBody>
          <a:bodyPr wrap="square">
            <a:spAutoFit/>
          </a:bodyPr>
          <a:lstStyle/>
          <a:p>
            <a:r>
              <a:rPr lang="en-US" altLang="zh-CN" sz="14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XP -3504_-9.32</a:t>
            </a:r>
            <a:endParaRPr lang="zh-CN" altLang="en-US" sz="1400" dirty="0"/>
          </a:p>
        </p:txBody>
      </p:sp>
      <p:sp>
        <p:nvSpPr>
          <p:cNvPr id="19" name="文本框 18">
            <a:extLst>
              <a:ext uri="{FF2B5EF4-FFF2-40B4-BE49-F238E27FC236}">
                <a16:creationId xmlns:a16="http://schemas.microsoft.com/office/drawing/2014/main" id="{538B2869-2B82-4053-88B8-1F8223665814}"/>
              </a:ext>
            </a:extLst>
          </p:cNvPr>
          <p:cNvSpPr txBox="1"/>
          <p:nvPr/>
        </p:nvSpPr>
        <p:spPr>
          <a:xfrm>
            <a:off x="9570637" y="3744096"/>
            <a:ext cx="2476703" cy="307777"/>
          </a:xfrm>
          <a:prstGeom prst="rect">
            <a:avLst/>
          </a:prstGeom>
          <a:noFill/>
        </p:spPr>
        <p:txBody>
          <a:bodyPr wrap="square">
            <a:spAutoFit/>
          </a:bodyPr>
          <a:lstStyle/>
          <a:p>
            <a:r>
              <a:rPr lang="en-US" altLang="zh-CN" sz="14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XP -795940_-7.94</a:t>
            </a:r>
            <a:endParaRPr lang="zh-CN" altLang="en-US" sz="1400" dirty="0"/>
          </a:p>
        </p:txBody>
      </p:sp>
      <p:pic>
        <p:nvPicPr>
          <p:cNvPr id="23" name="图片 22">
            <a:extLst>
              <a:ext uri="{FF2B5EF4-FFF2-40B4-BE49-F238E27FC236}">
                <a16:creationId xmlns:a16="http://schemas.microsoft.com/office/drawing/2014/main" id="{F71F3315-F519-48EA-B633-3021FDA5F087}"/>
              </a:ext>
            </a:extLst>
          </p:cNvPr>
          <p:cNvPicPr>
            <a:picLocks noChangeAspect="1"/>
          </p:cNvPicPr>
          <p:nvPr/>
        </p:nvPicPr>
        <p:blipFill>
          <a:blip r:embed="rId6"/>
          <a:stretch>
            <a:fillRect/>
          </a:stretch>
        </p:blipFill>
        <p:spPr>
          <a:xfrm>
            <a:off x="6357833" y="5694845"/>
            <a:ext cx="4695380" cy="485132"/>
          </a:xfrm>
          <a:prstGeom prst="rect">
            <a:avLst/>
          </a:prstGeom>
        </p:spPr>
      </p:pic>
      <p:sp>
        <p:nvSpPr>
          <p:cNvPr id="24" name="文本框 23">
            <a:extLst>
              <a:ext uri="{FF2B5EF4-FFF2-40B4-BE49-F238E27FC236}">
                <a16:creationId xmlns:a16="http://schemas.microsoft.com/office/drawing/2014/main" id="{DDB700F4-2D0E-4D84-8A66-2C13B777CAE0}"/>
              </a:ext>
            </a:extLst>
          </p:cNvPr>
          <p:cNvSpPr txBox="1"/>
          <p:nvPr/>
        </p:nvSpPr>
        <p:spPr>
          <a:xfrm>
            <a:off x="7385532" y="5212784"/>
            <a:ext cx="2819167" cy="307777"/>
          </a:xfrm>
          <a:prstGeom prst="rect">
            <a:avLst/>
          </a:prstGeom>
          <a:noFill/>
        </p:spPr>
        <p:txBody>
          <a:bodyPr wrap="square">
            <a:spAutoFit/>
          </a:bodyPr>
          <a:lstStyle/>
          <a:p>
            <a:r>
              <a:rPr lang="en-US" altLang="zh-CN" sz="14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SP -156197_-9.43</a:t>
            </a:r>
            <a:endParaRPr lang="zh-CN" altLang="en-US" sz="1400" dirty="0"/>
          </a:p>
        </p:txBody>
      </p:sp>
      <p:sp>
        <p:nvSpPr>
          <p:cNvPr id="25" name="文本框 24">
            <a:extLst>
              <a:ext uri="{FF2B5EF4-FFF2-40B4-BE49-F238E27FC236}">
                <a16:creationId xmlns:a16="http://schemas.microsoft.com/office/drawing/2014/main" id="{6413257C-04BC-4EBF-A0FA-8F01A3A13598}"/>
              </a:ext>
            </a:extLst>
          </p:cNvPr>
          <p:cNvSpPr txBox="1"/>
          <p:nvPr/>
        </p:nvSpPr>
        <p:spPr>
          <a:xfrm>
            <a:off x="7385532" y="6326363"/>
            <a:ext cx="2819167" cy="307777"/>
          </a:xfrm>
          <a:prstGeom prst="rect">
            <a:avLst/>
          </a:prstGeom>
          <a:noFill/>
        </p:spPr>
        <p:txBody>
          <a:bodyPr wrap="square">
            <a:spAutoFit/>
          </a:bodyPr>
          <a:lstStyle/>
          <a:p>
            <a:r>
              <a:rPr lang="en-US" altLang="zh-CN" sz="1400" b="1" dirty="0" err="1">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Gilde</a:t>
            </a:r>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 SP -2116_-8.97</a:t>
            </a:r>
            <a:endParaRPr lang="zh-CN" altLang="en-US" sz="1400" dirty="0"/>
          </a:p>
        </p:txBody>
      </p:sp>
      <p:sp>
        <p:nvSpPr>
          <p:cNvPr id="27" name="文本框 26">
            <a:extLst>
              <a:ext uri="{FF2B5EF4-FFF2-40B4-BE49-F238E27FC236}">
                <a16:creationId xmlns:a16="http://schemas.microsoft.com/office/drawing/2014/main" id="{73DEE554-502A-4E17-8D03-90FD54A88E5D}"/>
              </a:ext>
            </a:extLst>
          </p:cNvPr>
          <p:cNvSpPr txBox="1"/>
          <p:nvPr/>
        </p:nvSpPr>
        <p:spPr>
          <a:xfrm>
            <a:off x="1267257" y="6099462"/>
            <a:ext cx="1985413" cy="307777"/>
          </a:xfrm>
          <a:prstGeom prst="rect">
            <a:avLst/>
          </a:prstGeom>
          <a:noFill/>
        </p:spPr>
        <p:txBody>
          <a:bodyPr wrap="square">
            <a:spAutoFit/>
          </a:bodyPr>
          <a:lstStyle/>
          <a:p>
            <a:r>
              <a:rPr lang="en-US" altLang="zh-CN"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rPr>
              <a:t>vina score : -9.636</a:t>
            </a:r>
            <a:endParaRPr lang="zh-CN" altLang="en-US" sz="1400" b="1" dirty="0">
              <a:solidFill>
                <a:srgbClr val="191919"/>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85941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30398</TotalTime>
  <Words>1319</Words>
  <Application>Microsoft Office PowerPoint</Application>
  <PresentationFormat>宽屏</PresentationFormat>
  <Paragraphs>167</Paragraphs>
  <Slides>12</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等线</vt:lpstr>
      <vt:lpstr>等线 Light</vt:lpstr>
      <vt:lpstr>方正宋刻本秀楷简体</vt:lpstr>
      <vt:lpstr>微软雅黑</vt:lpstr>
      <vt:lpstr>Arial</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ZYC</dc:creator>
  <cp:lastModifiedBy>Yangyang Zhang (250010125)</cp:lastModifiedBy>
  <cp:revision>853</cp:revision>
  <dcterms:created xsi:type="dcterms:W3CDTF">2024-04-09T08:50:17Z</dcterms:created>
  <dcterms:modified xsi:type="dcterms:W3CDTF">2026-08-06T14:40:46Z</dcterms:modified>
</cp:coreProperties>
</file>